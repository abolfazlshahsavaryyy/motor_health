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12"/>
  </p:notesMasterIdLst>
  <p:sldIdLst>
    <p:sldId id="256" r:id="rId2"/>
    <p:sldId id="257" r:id="rId3"/>
    <p:sldId id="258"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AF0E1D-2F2C-4AF0-8707-D23B366ADB2C}" type="datetimeFigureOut">
              <a:rPr lang="en-US" smtClean="0"/>
              <a:t>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6A7577-33A1-418B-92EC-BACF90806A74}" type="slidenum">
              <a:rPr lang="en-US" smtClean="0"/>
              <a:t>‹#›</a:t>
            </a:fld>
            <a:endParaRPr lang="en-US"/>
          </a:p>
        </p:txBody>
      </p:sp>
    </p:spTree>
    <p:extLst>
      <p:ext uri="{BB962C8B-B14F-4D97-AF65-F5344CB8AC3E}">
        <p14:creationId xmlns:p14="http://schemas.microsoft.com/office/powerpoint/2010/main" val="2188059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6A7577-33A1-418B-92EC-BACF90806A74}" type="slidenum">
              <a:rPr lang="en-US" smtClean="0"/>
              <a:t>2</a:t>
            </a:fld>
            <a:endParaRPr lang="en-US"/>
          </a:p>
        </p:txBody>
      </p:sp>
    </p:spTree>
    <p:extLst>
      <p:ext uri="{BB962C8B-B14F-4D97-AF65-F5344CB8AC3E}">
        <p14:creationId xmlns:p14="http://schemas.microsoft.com/office/powerpoint/2010/main" val="3029000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4F0BE-020F-3BE7-388C-68B22FD8A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3F3F2-676B-CBC5-2DBD-D185DDA423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3797C9-5F18-74AD-4EC8-A5AED991E5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4399E3-9F86-ED7B-E24C-0B635499E586}"/>
              </a:ext>
            </a:extLst>
          </p:cNvPr>
          <p:cNvSpPr>
            <a:spLocks noGrp="1"/>
          </p:cNvSpPr>
          <p:nvPr>
            <p:ph type="sldNum" sz="quarter" idx="5"/>
          </p:nvPr>
        </p:nvSpPr>
        <p:spPr/>
        <p:txBody>
          <a:bodyPr/>
          <a:lstStyle/>
          <a:p>
            <a:fld id="{CB6A7577-33A1-418B-92EC-BACF90806A74}" type="slidenum">
              <a:rPr lang="en-US" smtClean="0"/>
              <a:t>3</a:t>
            </a:fld>
            <a:endParaRPr lang="en-US"/>
          </a:p>
        </p:txBody>
      </p:sp>
    </p:spTree>
    <p:extLst>
      <p:ext uri="{BB962C8B-B14F-4D97-AF65-F5344CB8AC3E}">
        <p14:creationId xmlns:p14="http://schemas.microsoft.com/office/powerpoint/2010/main" val="3118525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C42E0-3C74-A819-DE1B-137EE9237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886FB-6991-8FFF-06DF-47A08621F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235AB-224E-BC86-6B55-6901F99BF9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6BFD5E-CCDD-2AD0-7284-78F85A206648}"/>
              </a:ext>
            </a:extLst>
          </p:cNvPr>
          <p:cNvSpPr>
            <a:spLocks noGrp="1"/>
          </p:cNvSpPr>
          <p:nvPr>
            <p:ph type="sldNum" sz="quarter" idx="5"/>
          </p:nvPr>
        </p:nvSpPr>
        <p:spPr/>
        <p:txBody>
          <a:bodyPr/>
          <a:lstStyle/>
          <a:p>
            <a:fld id="{CB6A7577-33A1-418B-92EC-BACF90806A74}" type="slidenum">
              <a:rPr lang="en-US" smtClean="0"/>
              <a:t>4</a:t>
            </a:fld>
            <a:endParaRPr lang="en-US"/>
          </a:p>
        </p:txBody>
      </p:sp>
    </p:spTree>
    <p:extLst>
      <p:ext uri="{BB962C8B-B14F-4D97-AF65-F5344CB8AC3E}">
        <p14:creationId xmlns:p14="http://schemas.microsoft.com/office/powerpoint/2010/main" val="776086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2087F38-9EE4-436A-949E-9013AE99F91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4213285939"/>
      </p:ext>
    </p:extLst>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2087F38-9EE4-436A-949E-9013AE99F91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911095937"/>
      </p:ext>
    </p:extLst>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087F38-9EE4-436A-949E-9013AE99F91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1550115197"/>
      </p:ext>
    </p:extLst>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2087F38-9EE4-436A-949E-9013AE99F91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3064880745"/>
      </p:ext>
    </p:extLst>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087F38-9EE4-436A-949E-9013AE99F914}"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2618405422"/>
      </p:ext>
    </p:extLst>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2087F38-9EE4-436A-949E-9013AE99F914}" type="datetimeFigureOut">
              <a:rPr lang="en-US" smtClean="0"/>
              <a:t>7/9/2026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2403452238"/>
      </p:ext>
    </p:extLst>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2087F38-9EE4-436A-949E-9013AE99F914}" type="datetimeFigureOut">
              <a:rPr lang="en-US" smtClean="0"/>
              <a:t>7/9/2026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680969595"/>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2087F38-9EE4-436A-949E-9013AE99F914}" type="datetimeFigureOut">
              <a:rPr lang="en-US" smtClean="0"/>
              <a:t>7/9/2026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1879613236"/>
      </p:ext>
    </p:extLst>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087F38-9EE4-436A-949E-9013AE99F91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3013258138"/>
      </p:ext>
    </p:extLst>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087F38-9EE4-436A-949E-9013AE99F91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1167074885"/>
      </p:ext>
    </p:extLst>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2087F38-9EE4-436A-949E-9013AE99F91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3242059812"/>
      </p:ext>
    </p:extLst>
  </p:cSld>
  <p:clrMapOvr>
    <a:masterClrMapping/>
  </p:clrMapOvr>
  <p:transition spd="slow">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2087F38-9EE4-436A-949E-9013AE99F91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3E308-70B3-405A-B968-1FA63725296D}"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51013247"/>
      </p:ext>
    </p:extLst>
  </p:cSld>
  <p:clrMapOvr>
    <a:masterClrMapping/>
  </p:clrMapOvr>
  <p:transition spd="slow">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087F38-9EE4-436A-949E-9013AE99F91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350201941"/>
      </p:ext>
    </p:extLst>
  </p:cSld>
  <p:clrMapOvr>
    <a:masterClrMapping/>
  </p:clrMapOvr>
  <p:transition spd="slow">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2087F38-9EE4-436A-949E-9013AE99F914}" type="datetimeFigureOut">
              <a:rPr lang="en-US" smtClean="0"/>
              <a:t>7/9/2026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2889686518"/>
      </p:ext>
    </p:extLst>
  </p:cSld>
  <p:clrMapOvr>
    <a:masterClrMapping/>
  </p:clrMapOvr>
  <p:transition spd="slow">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2087F38-9EE4-436A-949E-9013AE99F914}" type="datetimeFigureOut">
              <a:rPr lang="en-US" smtClean="0"/>
              <a:t>7/9/2026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2258972218"/>
      </p:ext>
    </p:extLst>
  </p:cSld>
  <p:clrMapOvr>
    <a:masterClrMapping/>
  </p:clrMapOvr>
  <p:transition spd="slow">
    <p:cove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087F38-9EE4-436A-949E-9013AE99F91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3594218871"/>
      </p:ext>
    </p:extLst>
  </p:cSld>
  <p:clrMapOvr>
    <a:masterClrMapping/>
  </p:clrMapOvr>
  <p:transition spd="slow">
    <p:cove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087F38-9EE4-436A-949E-9013AE99F91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33E308-70B3-405A-B968-1FA63725296D}" type="slidenum">
              <a:rPr lang="en-US" smtClean="0"/>
              <a:t>‹#›</a:t>
            </a:fld>
            <a:endParaRPr lang="en-US"/>
          </a:p>
        </p:txBody>
      </p:sp>
    </p:spTree>
    <p:extLst>
      <p:ext uri="{BB962C8B-B14F-4D97-AF65-F5344CB8AC3E}">
        <p14:creationId xmlns:p14="http://schemas.microsoft.com/office/powerpoint/2010/main" val="513169621"/>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2087F38-9EE4-436A-949E-9013AE99F914}" type="datetimeFigureOut">
              <a:rPr lang="en-US" smtClean="0"/>
              <a:t>7/9/2026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033E308-70B3-405A-B968-1FA63725296D}" type="slidenum">
              <a:rPr lang="en-US" smtClean="0"/>
              <a:t>‹#›</a:t>
            </a:fld>
            <a:endParaRPr lang="en-US"/>
          </a:p>
        </p:txBody>
      </p:sp>
    </p:spTree>
    <p:extLst>
      <p:ext uri="{BB962C8B-B14F-4D97-AF65-F5344CB8AC3E}">
        <p14:creationId xmlns:p14="http://schemas.microsoft.com/office/powerpoint/2010/main" val="567511719"/>
      </p:ext>
    </p:extLst>
  </p:cSld>
  <p:clrMap bg1="dk1" tx1="lt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Lst>
  <p:transition spd="slow">
    <p:cover/>
  </p:transition>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BEA7C3-1F27-3858-5AE8-CED6E4E4D9E6}"/>
              </a:ext>
            </a:extLst>
          </p:cNvPr>
          <p:cNvSpPr txBox="1"/>
          <p:nvPr/>
        </p:nvSpPr>
        <p:spPr>
          <a:xfrm>
            <a:off x="3116826" y="894735"/>
            <a:ext cx="5397909" cy="4524315"/>
          </a:xfrm>
          <a:prstGeom prst="rect">
            <a:avLst/>
          </a:prstGeom>
          <a:noFill/>
        </p:spPr>
        <p:txBody>
          <a:bodyPr wrap="square" rtlCol="0">
            <a:spAutoFit/>
          </a:bodyPr>
          <a:lstStyle/>
          <a:p>
            <a:pPr algn="ctr" rtl="1"/>
            <a:r>
              <a:rPr lang="fa-IR" sz="3200" dirty="0">
                <a:cs typeface="B Nazanin" panose="00000400000000000000" pitchFamily="2" charset="-78"/>
              </a:rPr>
              <a:t>به نام خدا </a:t>
            </a:r>
          </a:p>
          <a:p>
            <a:pPr algn="r" rtl="1"/>
            <a:endParaRPr lang="fa-IR" sz="3200" dirty="0">
              <a:cs typeface="B Nazanin" panose="00000400000000000000" pitchFamily="2" charset="-78"/>
            </a:endParaRPr>
          </a:p>
          <a:p>
            <a:pPr algn="ctr" rtl="1"/>
            <a:r>
              <a:rPr lang="fa-IR" sz="3200" dirty="0">
                <a:cs typeface="B Nazanin" panose="00000400000000000000" pitchFamily="2" charset="-78"/>
              </a:rPr>
              <a:t>پروژه سیگنال </a:t>
            </a:r>
          </a:p>
          <a:p>
            <a:pPr algn="ctr" rtl="1"/>
            <a:br>
              <a:rPr lang="fa-IR" sz="3200" dirty="0">
                <a:cs typeface="B Nazanin" panose="00000400000000000000" pitchFamily="2" charset="-78"/>
              </a:rPr>
            </a:br>
            <a:r>
              <a:rPr lang="fa-IR" sz="3200" dirty="0">
                <a:cs typeface="B Nazanin" panose="00000400000000000000" pitchFamily="2" charset="-78"/>
              </a:rPr>
              <a:t>تشخیص خرابی موتور از روی  صدا  </a:t>
            </a:r>
            <a:br>
              <a:rPr lang="fa-IR" sz="3200" dirty="0">
                <a:cs typeface="B Nazanin" panose="00000400000000000000" pitchFamily="2" charset="-78"/>
              </a:rPr>
            </a:br>
            <a:br>
              <a:rPr lang="fa-IR" sz="3200" dirty="0">
                <a:cs typeface="B Nazanin" panose="00000400000000000000" pitchFamily="2" charset="-78"/>
              </a:rPr>
            </a:br>
            <a:r>
              <a:rPr lang="fa-IR" sz="3200" dirty="0">
                <a:cs typeface="B Nazanin" panose="00000400000000000000" pitchFamily="2" charset="-78"/>
              </a:rPr>
              <a:t>مهدی دهقانی محمدآبادی 402521261</a:t>
            </a:r>
            <a:br>
              <a:rPr lang="fa-IR" sz="3200" dirty="0">
                <a:cs typeface="B Nazanin" panose="00000400000000000000" pitchFamily="2" charset="-78"/>
              </a:rPr>
            </a:br>
            <a:r>
              <a:rPr lang="fa-IR" sz="3200" dirty="0">
                <a:cs typeface="B Nazanin" panose="00000400000000000000" pitchFamily="2" charset="-78"/>
              </a:rPr>
              <a:t> </a:t>
            </a:r>
            <a:br>
              <a:rPr lang="fa-IR" sz="3200" dirty="0">
                <a:cs typeface="B Nazanin" panose="00000400000000000000" pitchFamily="2" charset="-78"/>
              </a:rPr>
            </a:br>
            <a:r>
              <a:rPr lang="fa-IR" sz="3200" dirty="0">
                <a:cs typeface="B Nazanin" panose="00000400000000000000" pitchFamily="2" charset="-78"/>
              </a:rPr>
              <a:t>ابوالفضل شهسواری402521361</a:t>
            </a:r>
            <a:endParaRPr lang="en-US" sz="3200" dirty="0">
              <a:cs typeface="B Nazanin" panose="00000400000000000000" pitchFamily="2" charset="-78"/>
            </a:endParaRPr>
          </a:p>
        </p:txBody>
      </p:sp>
    </p:spTree>
    <p:extLst>
      <p:ext uri="{BB962C8B-B14F-4D97-AF65-F5344CB8AC3E}">
        <p14:creationId xmlns:p14="http://schemas.microsoft.com/office/powerpoint/2010/main" val="280382700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DD656-D44E-C982-3917-155A8F1BDDB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C0816D5-ADA9-199A-BB45-1E29493C863C}"/>
              </a:ext>
            </a:extLst>
          </p:cNvPr>
          <p:cNvSpPr txBox="1"/>
          <p:nvPr/>
        </p:nvSpPr>
        <p:spPr>
          <a:xfrm>
            <a:off x="4762090" y="237294"/>
            <a:ext cx="5397909" cy="523220"/>
          </a:xfrm>
          <a:prstGeom prst="rect">
            <a:avLst/>
          </a:prstGeom>
          <a:noFill/>
        </p:spPr>
        <p:txBody>
          <a:bodyPr wrap="square" rtlCol="0">
            <a:spAutoFit/>
          </a:bodyPr>
          <a:lstStyle/>
          <a:p>
            <a:pPr algn="r" rtl="1"/>
            <a:r>
              <a:rPr lang="fa-IR" sz="2800" b="1" dirty="0">
                <a:cs typeface="B Nazanin" panose="00000400000000000000" pitchFamily="2" charset="-78"/>
              </a:rPr>
              <a:t>توضیحات بخش های مختلف پروژه</a:t>
            </a:r>
            <a:endParaRPr lang="en-US" sz="2800" b="1" dirty="0">
              <a:cs typeface="B Nazanin" panose="00000400000000000000" pitchFamily="2" charset="-78"/>
            </a:endParaRPr>
          </a:p>
        </p:txBody>
      </p:sp>
      <p:sp>
        <p:nvSpPr>
          <p:cNvPr id="2" name="TextBox 1">
            <a:extLst>
              <a:ext uri="{FF2B5EF4-FFF2-40B4-BE49-F238E27FC236}">
                <a16:creationId xmlns:a16="http://schemas.microsoft.com/office/drawing/2014/main" id="{D2EBD6E8-A20E-23AA-7A77-A2F72EF1E753}"/>
              </a:ext>
            </a:extLst>
          </p:cNvPr>
          <p:cNvSpPr txBox="1"/>
          <p:nvPr/>
        </p:nvSpPr>
        <p:spPr>
          <a:xfrm>
            <a:off x="4417960" y="847684"/>
            <a:ext cx="5742039" cy="2031325"/>
          </a:xfrm>
          <a:prstGeom prst="rect">
            <a:avLst/>
          </a:prstGeom>
          <a:noFill/>
        </p:spPr>
        <p:txBody>
          <a:bodyPr wrap="square" rtlCol="0">
            <a:spAutoFit/>
          </a:bodyPr>
          <a:lstStyle/>
          <a:p>
            <a:pPr algn="r"/>
            <a:r>
              <a:rPr lang="en-US" b="1" dirty="0" err="1"/>
              <a:t>خط</a:t>
            </a:r>
            <a:r>
              <a:rPr lang="en-US" b="1" dirty="0"/>
              <a:t> </a:t>
            </a:r>
            <a:r>
              <a:rPr lang="en-US" b="1" dirty="0" err="1"/>
              <a:t>لوله</a:t>
            </a:r>
            <a:r>
              <a:rPr lang="en-US" b="1" dirty="0"/>
              <a:t> </a:t>
            </a:r>
            <a:r>
              <a:rPr lang="en-US" b="1" dirty="0" err="1"/>
              <a:t>پردازش</a:t>
            </a:r>
            <a:r>
              <a:rPr lang="en-US" b="1" dirty="0"/>
              <a:t> </a:t>
            </a:r>
            <a:r>
              <a:rPr lang="en-US" b="1" dirty="0" err="1"/>
              <a:t>داده‌های</a:t>
            </a:r>
            <a:r>
              <a:rPr lang="en-US" b="1" dirty="0"/>
              <a:t> </a:t>
            </a:r>
            <a:r>
              <a:rPr lang="en-US" b="1" dirty="0" err="1"/>
              <a:t>صوتی</a:t>
            </a:r>
            <a:r>
              <a:rPr lang="en-US" b="1" dirty="0"/>
              <a:t> </a:t>
            </a:r>
            <a:r>
              <a:rPr lang="en-US" b="1" dirty="0" err="1"/>
              <a:t>موتور</a:t>
            </a:r>
            <a:r>
              <a:rPr lang="fa-IR" b="1" dirty="0"/>
              <a:t> : </a:t>
            </a:r>
          </a:p>
          <a:p>
            <a:pPr algn="r"/>
            <a:endParaRPr lang="fa-IR" b="1" dirty="0"/>
          </a:p>
          <a:p>
            <a:pPr algn="r" rtl="1"/>
            <a:r>
              <a:rPr lang="en-US" b="1" dirty="0"/>
              <a:t>۱. </a:t>
            </a:r>
            <a:r>
              <a:rPr lang="en-US" b="1" dirty="0" err="1"/>
              <a:t>هدف</a:t>
            </a:r>
            <a:r>
              <a:rPr lang="en-US" b="1" dirty="0"/>
              <a:t> و </a:t>
            </a:r>
            <a:r>
              <a:rPr lang="en-US" b="1" dirty="0" err="1"/>
              <a:t>تعریف</a:t>
            </a:r>
            <a:r>
              <a:rPr lang="en-US" b="1" dirty="0"/>
              <a:t> </a:t>
            </a:r>
            <a:r>
              <a:rPr lang="en-US" b="1" dirty="0" err="1"/>
              <a:t>مسئله</a:t>
            </a:r>
            <a:endParaRPr lang="en-US" b="1" dirty="0"/>
          </a:p>
          <a:p>
            <a:pPr algn="r" rtl="1"/>
            <a:r>
              <a:rPr lang="en-US" dirty="0" err="1"/>
              <a:t>هدف</a:t>
            </a:r>
            <a:r>
              <a:rPr lang="en-US" dirty="0"/>
              <a:t> </a:t>
            </a:r>
            <a:r>
              <a:rPr lang="en-US" dirty="0" err="1"/>
              <a:t>پروژه</a:t>
            </a:r>
            <a:r>
              <a:rPr lang="en-US" dirty="0"/>
              <a:t>، </a:t>
            </a:r>
            <a:r>
              <a:rPr lang="en-US" dirty="0" err="1"/>
              <a:t>تبدیل</a:t>
            </a:r>
            <a:r>
              <a:rPr lang="en-US" dirty="0"/>
              <a:t> </a:t>
            </a:r>
            <a:r>
              <a:rPr lang="en-US" dirty="0" err="1"/>
              <a:t>صدای</a:t>
            </a:r>
            <a:r>
              <a:rPr lang="en-US" dirty="0"/>
              <a:t> </a:t>
            </a:r>
            <a:r>
              <a:rPr lang="en-US" dirty="0" err="1"/>
              <a:t>خام</a:t>
            </a:r>
            <a:r>
              <a:rPr lang="en-US" dirty="0"/>
              <a:t> </a:t>
            </a:r>
            <a:r>
              <a:rPr lang="en-US" dirty="0" err="1"/>
              <a:t>موتور</a:t>
            </a:r>
            <a:r>
              <a:rPr lang="en-US" dirty="0"/>
              <a:t> </a:t>
            </a:r>
            <a:r>
              <a:rPr lang="en-US" dirty="0" err="1"/>
              <a:t>به</a:t>
            </a:r>
            <a:r>
              <a:rPr lang="en-US" dirty="0"/>
              <a:t> </a:t>
            </a:r>
            <a:r>
              <a:rPr lang="en-US" dirty="0" err="1"/>
              <a:t>یک</a:t>
            </a:r>
            <a:r>
              <a:rPr lang="en-US" dirty="0"/>
              <a:t> </a:t>
            </a:r>
            <a:r>
              <a:rPr lang="en-US" dirty="0" err="1"/>
              <a:t>نمایش</a:t>
            </a:r>
            <a:r>
              <a:rPr lang="en-US" dirty="0"/>
              <a:t> </a:t>
            </a:r>
            <a:r>
              <a:rPr lang="en-US" dirty="0" err="1"/>
              <a:t>عددی</a:t>
            </a:r>
            <a:r>
              <a:rPr lang="en-US" dirty="0"/>
              <a:t> </a:t>
            </a:r>
            <a:r>
              <a:rPr lang="en-US" dirty="0" err="1"/>
              <a:t>با</a:t>
            </a:r>
            <a:r>
              <a:rPr lang="en-US" dirty="0"/>
              <a:t> </a:t>
            </a:r>
            <a:r>
              <a:rPr lang="en-US" dirty="0" err="1"/>
              <a:t>ابعاد</a:t>
            </a:r>
            <a:r>
              <a:rPr lang="en-US" dirty="0"/>
              <a:t> </a:t>
            </a:r>
            <a:r>
              <a:rPr lang="en-US" dirty="0" err="1"/>
              <a:t>ثابت</a:t>
            </a:r>
            <a:r>
              <a:rPr lang="en-US" dirty="0"/>
              <a:t> </a:t>
            </a:r>
            <a:r>
              <a:rPr lang="en-US" dirty="0" err="1"/>
              <a:t>است</a:t>
            </a:r>
            <a:r>
              <a:rPr lang="en-US" dirty="0"/>
              <a:t> </a:t>
            </a:r>
            <a:r>
              <a:rPr lang="en-US" dirty="0" err="1"/>
              <a:t>تا</a:t>
            </a:r>
            <a:r>
              <a:rPr lang="en-US" dirty="0"/>
              <a:t> </a:t>
            </a:r>
            <a:r>
              <a:rPr lang="en-US" dirty="0" err="1"/>
              <a:t>الگوریتم‌های</a:t>
            </a:r>
            <a:r>
              <a:rPr lang="en-US" dirty="0"/>
              <a:t> </a:t>
            </a:r>
            <a:r>
              <a:rPr lang="en-US" dirty="0" err="1"/>
              <a:t>یادگیری</a:t>
            </a:r>
            <a:r>
              <a:rPr lang="en-US" dirty="0"/>
              <a:t> </a:t>
            </a:r>
            <a:r>
              <a:rPr lang="en-US" dirty="0" err="1"/>
              <a:t>ماشین</a:t>
            </a:r>
            <a:r>
              <a:rPr lang="en-US" dirty="0"/>
              <a:t> </a:t>
            </a:r>
            <a:r>
              <a:rPr lang="en-US" dirty="0" err="1"/>
              <a:t>بتوانند</a:t>
            </a:r>
            <a:r>
              <a:rPr lang="en-US" dirty="0"/>
              <a:t> </a:t>
            </a:r>
            <a:r>
              <a:rPr lang="en-US" dirty="0" err="1"/>
              <a:t>وضعیت</a:t>
            </a:r>
            <a:r>
              <a:rPr lang="en-US" dirty="0"/>
              <a:t> </a:t>
            </a:r>
            <a:r>
              <a:rPr lang="en-US" dirty="0" err="1"/>
              <a:t>موتور</a:t>
            </a:r>
            <a:r>
              <a:rPr lang="en-US" dirty="0"/>
              <a:t> </a:t>
            </a:r>
            <a:r>
              <a:rPr lang="en-US" dirty="0" err="1"/>
              <a:t>را</a:t>
            </a:r>
            <a:r>
              <a:rPr lang="en-US" dirty="0"/>
              <a:t> </a:t>
            </a:r>
            <a:r>
              <a:rPr lang="en-US" dirty="0" err="1"/>
              <a:t>در</a:t>
            </a:r>
            <a:r>
              <a:rPr lang="en-US" dirty="0"/>
              <a:t> </a:t>
            </a:r>
            <a:r>
              <a:rPr lang="en-US" dirty="0" err="1"/>
              <a:t>یکی</a:t>
            </a:r>
            <a:r>
              <a:rPr lang="en-US" dirty="0"/>
              <a:t> </a:t>
            </a:r>
            <a:r>
              <a:rPr lang="en-US" dirty="0" err="1"/>
              <a:t>از</a:t>
            </a:r>
            <a:r>
              <a:rPr lang="en-US" dirty="0"/>
              <a:t> </a:t>
            </a:r>
            <a:r>
              <a:rPr lang="en-US" dirty="0" err="1"/>
              <a:t>سه</a:t>
            </a:r>
            <a:r>
              <a:rPr lang="en-US" dirty="0"/>
              <a:t> </a:t>
            </a:r>
            <a:r>
              <a:rPr lang="en-US" dirty="0" err="1"/>
              <a:t>کلاس</a:t>
            </a:r>
            <a:r>
              <a:rPr lang="en-US" dirty="0"/>
              <a:t> </a:t>
            </a:r>
            <a:r>
              <a:rPr lang="en-US" dirty="0" err="1"/>
              <a:t>زیر</a:t>
            </a:r>
            <a:r>
              <a:rPr lang="en-US" dirty="0"/>
              <a:t> </a:t>
            </a:r>
            <a:r>
              <a:rPr lang="en-US" dirty="0" err="1"/>
              <a:t>تشخیص</a:t>
            </a:r>
            <a:r>
              <a:rPr lang="en-US" dirty="0"/>
              <a:t> </a:t>
            </a:r>
            <a:r>
              <a:rPr lang="en-US" dirty="0" err="1"/>
              <a:t>دهند</a:t>
            </a:r>
            <a:r>
              <a:rPr lang="en-US" dirty="0"/>
              <a:t>:</a:t>
            </a:r>
          </a:p>
          <a:p>
            <a:pPr algn="r"/>
            <a:endParaRPr lang="en-US" dirty="0"/>
          </a:p>
        </p:txBody>
      </p:sp>
      <p:graphicFrame>
        <p:nvGraphicFramePr>
          <p:cNvPr id="3" name="Table 2">
            <a:extLst>
              <a:ext uri="{FF2B5EF4-FFF2-40B4-BE49-F238E27FC236}">
                <a16:creationId xmlns:a16="http://schemas.microsoft.com/office/drawing/2014/main" id="{C0E35BDB-AE88-2BA7-6AB2-E77A47A39D02}"/>
              </a:ext>
            </a:extLst>
          </p:cNvPr>
          <p:cNvGraphicFramePr>
            <a:graphicFrameLocks noGrp="1"/>
          </p:cNvGraphicFramePr>
          <p:nvPr>
            <p:extLst>
              <p:ext uri="{D42A27DB-BD31-4B8C-83A1-F6EECF244321}">
                <p14:modId xmlns:p14="http://schemas.microsoft.com/office/powerpoint/2010/main" val="3629577347"/>
              </p:ext>
            </p:extLst>
          </p:nvPr>
        </p:nvGraphicFramePr>
        <p:xfrm>
          <a:off x="2032000" y="2687320"/>
          <a:ext cx="8127999" cy="1483360"/>
        </p:xfrm>
        <a:graphic>
          <a:graphicData uri="http://schemas.openxmlformats.org/drawingml/2006/table">
            <a:tbl>
              <a:tblPr firstRow="1" bandRow="1">
                <a:tableStyleId>{00A15C55-8517-42AA-B614-E9B94910E393}</a:tableStyleId>
              </a:tblPr>
              <a:tblGrid>
                <a:gridCol w="2709333">
                  <a:extLst>
                    <a:ext uri="{9D8B030D-6E8A-4147-A177-3AD203B41FA5}">
                      <a16:colId xmlns:a16="http://schemas.microsoft.com/office/drawing/2014/main" val="3732193665"/>
                    </a:ext>
                  </a:extLst>
                </a:gridCol>
                <a:gridCol w="2709333">
                  <a:extLst>
                    <a:ext uri="{9D8B030D-6E8A-4147-A177-3AD203B41FA5}">
                      <a16:colId xmlns:a16="http://schemas.microsoft.com/office/drawing/2014/main" val="148519922"/>
                    </a:ext>
                  </a:extLst>
                </a:gridCol>
                <a:gridCol w="2709333">
                  <a:extLst>
                    <a:ext uri="{9D8B030D-6E8A-4147-A177-3AD203B41FA5}">
                      <a16:colId xmlns:a16="http://schemas.microsoft.com/office/drawing/2014/main" val="1194090107"/>
                    </a:ext>
                  </a:extLst>
                </a:gridCol>
              </a:tblGrid>
              <a:tr h="370840">
                <a:tc>
                  <a:txBody>
                    <a:bodyPr/>
                    <a:lstStyle/>
                    <a:p>
                      <a:pPr algn="ctr"/>
                      <a:r>
                        <a:rPr lang="en-US" sz="1800" b="1" i="0" kern="1200" dirty="0" err="1">
                          <a:solidFill>
                            <a:schemeClr val="lt1"/>
                          </a:solidFill>
                          <a:effectLst/>
                          <a:latin typeface="+mn-lt"/>
                          <a:ea typeface="+mn-ea"/>
                          <a:cs typeface="+mn-cs"/>
                        </a:rPr>
                        <a:t>برچسب</a:t>
                      </a:r>
                      <a:endParaRPr lang="en-US" dirty="0"/>
                    </a:p>
                  </a:txBody>
                  <a:tcPr/>
                </a:tc>
                <a:tc>
                  <a:txBody>
                    <a:bodyPr/>
                    <a:lstStyle/>
                    <a:p>
                      <a:pPr algn="ctr"/>
                      <a:r>
                        <a:rPr lang="en-US" sz="1800" b="1" i="0" kern="1200" dirty="0" err="1">
                          <a:solidFill>
                            <a:schemeClr val="lt1"/>
                          </a:solidFill>
                          <a:effectLst/>
                          <a:latin typeface="+mn-lt"/>
                          <a:ea typeface="+mn-ea"/>
                          <a:cs typeface="+mn-cs"/>
                        </a:rPr>
                        <a:t>نام</a:t>
                      </a:r>
                      <a:r>
                        <a:rPr lang="en-US" sz="1800" b="1" i="0" kern="1200" dirty="0">
                          <a:solidFill>
                            <a:schemeClr val="lt1"/>
                          </a:solidFill>
                          <a:effectLst/>
                          <a:latin typeface="+mn-lt"/>
                          <a:ea typeface="+mn-ea"/>
                          <a:cs typeface="+mn-cs"/>
                        </a:rPr>
                        <a:t> </a:t>
                      </a:r>
                      <a:r>
                        <a:rPr lang="en-US" sz="1800" b="1" i="0" kern="1200" dirty="0" err="1">
                          <a:solidFill>
                            <a:schemeClr val="lt1"/>
                          </a:solidFill>
                          <a:effectLst/>
                          <a:latin typeface="+mn-lt"/>
                          <a:ea typeface="+mn-ea"/>
                          <a:cs typeface="+mn-cs"/>
                        </a:rPr>
                        <a:t>کلاس</a:t>
                      </a:r>
                      <a:endParaRPr lang="en-US" dirty="0"/>
                    </a:p>
                  </a:txBody>
                  <a:tcPr/>
                </a:tc>
                <a:tc>
                  <a:txBody>
                    <a:bodyPr/>
                    <a:lstStyle/>
                    <a:p>
                      <a:pPr algn="ctr"/>
                      <a:r>
                        <a:rPr lang="en-US" sz="1800" b="1" i="0" kern="1200" dirty="0" err="1">
                          <a:solidFill>
                            <a:schemeClr val="lt1"/>
                          </a:solidFill>
                          <a:effectLst/>
                          <a:latin typeface="+mn-lt"/>
                          <a:ea typeface="+mn-ea"/>
                          <a:cs typeface="+mn-cs"/>
                        </a:rPr>
                        <a:t>تفسیر</a:t>
                      </a:r>
                      <a:endParaRPr lang="en-US" dirty="0"/>
                    </a:p>
                  </a:txBody>
                  <a:tcPr/>
                </a:tc>
                <a:extLst>
                  <a:ext uri="{0D108BD9-81ED-4DB2-BD59-A6C34878D82A}">
                    <a16:rowId xmlns:a16="http://schemas.microsoft.com/office/drawing/2014/main" val="3972268330"/>
                  </a:ext>
                </a:extLst>
              </a:tr>
              <a:tr h="370840">
                <a:tc>
                  <a:txBody>
                    <a:bodyPr/>
                    <a:lstStyle/>
                    <a:p>
                      <a:pPr algn="ctr"/>
                      <a:r>
                        <a:rPr lang="fa-IR" dirty="0"/>
                        <a:t>1</a:t>
                      </a:r>
                      <a:endParaRPr lang="en-US" dirty="0"/>
                    </a:p>
                  </a:txBody>
                  <a:tcPr/>
                </a:tc>
                <a:tc>
                  <a:txBody>
                    <a:bodyPr/>
                    <a:lstStyle/>
                    <a:p>
                      <a:pPr algn="ctr"/>
                      <a:r>
                        <a:rPr lang="en-US" sz="1800" b="0" i="0" kern="1200" dirty="0">
                          <a:solidFill>
                            <a:schemeClr val="dk1"/>
                          </a:solidFill>
                          <a:effectLst/>
                          <a:latin typeface="+mn-lt"/>
                          <a:ea typeface="+mn-ea"/>
                          <a:cs typeface="+mn-cs"/>
                        </a:rPr>
                        <a:t>Healthy</a:t>
                      </a:r>
                      <a:endParaRPr lang="en-US" dirty="0"/>
                    </a:p>
                  </a:txBody>
                  <a:tcPr/>
                </a:tc>
                <a:tc>
                  <a:txBody>
                    <a:bodyPr/>
                    <a:lstStyle/>
                    <a:p>
                      <a:pPr algn="ctr"/>
                      <a:r>
                        <a:rPr lang="en-US" sz="1800" b="0" i="0" kern="1200" dirty="0" err="1">
                          <a:solidFill>
                            <a:schemeClr val="dk1"/>
                          </a:solidFill>
                          <a:effectLst/>
                          <a:latin typeface="+mn-lt"/>
                          <a:ea typeface="+mn-ea"/>
                          <a:cs typeface="+mn-cs"/>
                        </a:rPr>
                        <a:t>موتور</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سالم</a:t>
                      </a:r>
                      <a:endParaRPr lang="en-US" dirty="0"/>
                    </a:p>
                  </a:txBody>
                  <a:tcPr/>
                </a:tc>
                <a:extLst>
                  <a:ext uri="{0D108BD9-81ED-4DB2-BD59-A6C34878D82A}">
                    <a16:rowId xmlns:a16="http://schemas.microsoft.com/office/drawing/2014/main" val="948789197"/>
                  </a:ext>
                </a:extLst>
              </a:tr>
              <a:tr h="370840">
                <a:tc>
                  <a:txBody>
                    <a:bodyPr/>
                    <a:lstStyle/>
                    <a:p>
                      <a:pPr algn="ctr"/>
                      <a:r>
                        <a:rPr lang="fa-IR" dirty="0"/>
                        <a:t>2</a:t>
                      </a:r>
                      <a:endParaRPr lang="en-US" dirty="0"/>
                    </a:p>
                  </a:txBody>
                  <a:tcPr/>
                </a:tc>
                <a:tc>
                  <a:txBody>
                    <a:bodyPr/>
                    <a:lstStyle/>
                    <a:p>
                      <a:pPr algn="ctr"/>
                      <a:r>
                        <a:rPr lang="en-US" sz="1800" b="0" i="0" kern="1200" dirty="0">
                          <a:solidFill>
                            <a:schemeClr val="dk1"/>
                          </a:solidFill>
                          <a:effectLst/>
                          <a:latin typeface="+mn-lt"/>
                          <a:ea typeface="+mn-ea"/>
                          <a:cs typeface="+mn-cs"/>
                        </a:rPr>
                        <a:t>Bearing</a:t>
                      </a:r>
                      <a:endParaRPr lang="en-US" dirty="0"/>
                    </a:p>
                  </a:txBody>
                  <a:tcPr/>
                </a:tc>
                <a:tc>
                  <a:txBody>
                    <a:bodyPr/>
                    <a:lstStyle/>
                    <a:p>
                      <a:pPr algn="ctr"/>
                      <a:r>
                        <a:rPr lang="en-US" sz="1800" b="0" i="0" kern="1200" dirty="0" err="1">
                          <a:solidFill>
                            <a:schemeClr val="dk1"/>
                          </a:solidFill>
                          <a:effectLst/>
                          <a:latin typeface="+mn-lt"/>
                          <a:ea typeface="+mn-ea"/>
                          <a:cs typeface="+mn-cs"/>
                        </a:rPr>
                        <a:t>وجود</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عیب</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در</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یاتاقان</a:t>
                      </a:r>
                      <a:endParaRPr lang="en-US" dirty="0"/>
                    </a:p>
                  </a:txBody>
                  <a:tcPr/>
                </a:tc>
                <a:extLst>
                  <a:ext uri="{0D108BD9-81ED-4DB2-BD59-A6C34878D82A}">
                    <a16:rowId xmlns:a16="http://schemas.microsoft.com/office/drawing/2014/main" val="2620868818"/>
                  </a:ext>
                </a:extLst>
              </a:tr>
              <a:tr h="370840">
                <a:tc>
                  <a:txBody>
                    <a:bodyPr/>
                    <a:lstStyle/>
                    <a:p>
                      <a:pPr algn="ctr"/>
                      <a:r>
                        <a:rPr lang="fa-IR" dirty="0"/>
                        <a:t>3</a:t>
                      </a:r>
                      <a:endParaRPr lang="en-US" dirty="0"/>
                    </a:p>
                  </a:txBody>
                  <a:tcPr/>
                </a:tc>
                <a:tc>
                  <a:txBody>
                    <a:bodyPr/>
                    <a:lstStyle/>
                    <a:p>
                      <a:pPr algn="ctr"/>
                      <a:r>
                        <a:rPr lang="en-US" sz="1800" b="0" i="0" kern="1200" dirty="0">
                          <a:solidFill>
                            <a:schemeClr val="dk1"/>
                          </a:solidFill>
                          <a:effectLst/>
                          <a:latin typeface="+mn-lt"/>
                          <a:ea typeface="+mn-ea"/>
                          <a:cs typeface="+mn-cs"/>
                        </a:rPr>
                        <a:t>Propeller</a:t>
                      </a:r>
                      <a:endParaRPr lang="en-US" dirty="0"/>
                    </a:p>
                  </a:txBody>
                  <a:tcPr/>
                </a:tc>
                <a:tc>
                  <a:txBody>
                    <a:bodyPr/>
                    <a:lstStyle/>
                    <a:p>
                      <a:pPr algn="ctr"/>
                      <a:r>
                        <a:rPr lang="en-US" sz="1800" b="0" i="0" kern="1200" dirty="0" err="1">
                          <a:solidFill>
                            <a:schemeClr val="dk1"/>
                          </a:solidFill>
                          <a:effectLst/>
                          <a:latin typeface="+mn-lt"/>
                          <a:ea typeface="+mn-ea"/>
                          <a:cs typeface="+mn-cs"/>
                        </a:rPr>
                        <a:t>وجود</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عیب</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در</a:t>
                      </a:r>
                      <a:r>
                        <a:rPr lang="en-US" sz="1800" b="0" i="0" kern="1200" dirty="0">
                          <a:solidFill>
                            <a:schemeClr val="dk1"/>
                          </a:solidFill>
                          <a:effectLst/>
                          <a:latin typeface="+mn-lt"/>
                          <a:ea typeface="+mn-ea"/>
                          <a:cs typeface="+mn-cs"/>
                        </a:rPr>
                        <a:t> </a:t>
                      </a:r>
                      <a:r>
                        <a:rPr lang="en-US" sz="1800" b="0" i="0" kern="1200" dirty="0" err="1">
                          <a:solidFill>
                            <a:schemeClr val="dk1"/>
                          </a:solidFill>
                          <a:effectLst/>
                          <a:latin typeface="+mn-lt"/>
                          <a:ea typeface="+mn-ea"/>
                          <a:cs typeface="+mn-cs"/>
                        </a:rPr>
                        <a:t>پروانه</a:t>
                      </a:r>
                      <a:endParaRPr lang="en-US" dirty="0"/>
                    </a:p>
                  </a:txBody>
                  <a:tcPr/>
                </a:tc>
                <a:extLst>
                  <a:ext uri="{0D108BD9-81ED-4DB2-BD59-A6C34878D82A}">
                    <a16:rowId xmlns:a16="http://schemas.microsoft.com/office/drawing/2014/main" val="427230189"/>
                  </a:ext>
                </a:extLst>
              </a:tr>
            </a:tbl>
          </a:graphicData>
        </a:graphic>
      </p:graphicFrame>
      <p:sp>
        <p:nvSpPr>
          <p:cNvPr id="5" name="TextBox 4">
            <a:extLst>
              <a:ext uri="{FF2B5EF4-FFF2-40B4-BE49-F238E27FC236}">
                <a16:creationId xmlns:a16="http://schemas.microsoft.com/office/drawing/2014/main" id="{94FA9E5C-8109-87E9-6559-C34C4645DAA2}"/>
              </a:ext>
            </a:extLst>
          </p:cNvPr>
          <p:cNvSpPr txBox="1"/>
          <p:nvPr/>
        </p:nvSpPr>
        <p:spPr>
          <a:xfrm>
            <a:off x="737419" y="4325571"/>
            <a:ext cx="9609393" cy="1754326"/>
          </a:xfrm>
          <a:prstGeom prst="rect">
            <a:avLst/>
          </a:prstGeom>
          <a:noFill/>
        </p:spPr>
        <p:txBody>
          <a:bodyPr wrap="square" rtlCol="0">
            <a:spAutoFit/>
          </a:bodyPr>
          <a:lstStyle/>
          <a:p>
            <a:pPr algn="r" rtl="1"/>
            <a:r>
              <a:rPr lang="en-US" dirty="0" err="1"/>
              <a:t>خط</a:t>
            </a:r>
            <a:r>
              <a:rPr lang="en-US" dirty="0"/>
              <a:t> </a:t>
            </a:r>
            <a:r>
              <a:rPr lang="en-US" dirty="0" err="1"/>
              <a:t>لوله</a:t>
            </a:r>
            <a:r>
              <a:rPr lang="en-US" dirty="0"/>
              <a:t> </a:t>
            </a:r>
            <a:r>
              <a:rPr lang="en-US" dirty="0" err="1"/>
              <a:t>داده</a:t>
            </a:r>
            <a:r>
              <a:rPr lang="en-US" dirty="0"/>
              <a:t> </a:t>
            </a:r>
            <a:r>
              <a:rPr lang="en-US" dirty="0" err="1"/>
              <a:t>در</a:t>
            </a:r>
            <a:r>
              <a:rPr lang="en-US" dirty="0"/>
              <a:t> </a:t>
            </a:r>
            <a:r>
              <a:rPr lang="en-US" dirty="0" err="1"/>
              <a:t>پروژه</a:t>
            </a:r>
            <a:r>
              <a:rPr lang="en-US" dirty="0"/>
              <a:t> </a:t>
            </a:r>
            <a:r>
              <a:rPr lang="en-US" dirty="0" err="1"/>
              <a:t>را</a:t>
            </a:r>
            <a:r>
              <a:rPr lang="en-US" dirty="0"/>
              <a:t> </a:t>
            </a:r>
            <a:r>
              <a:rPr lang="en-US" dirty="0" err="1"/>
              <a:t>می‌توان</a:t>
            </a:r>
            <a:r>
              <a:rPr lang="en-US" dirty="0"/>
              <a:t> </a:t>
            </a:r>
            <a:r>
              <a:rPr lang="en-US" dirty="0" err="1"/>
              <a:t>به‌صورت</a:t>
            </a:r>
            <a:r>
              <a:rPr lang="en-US" dirty="0"/>
              <a:t> </a:t>
            </a:r>
            <a:r>
              <a:rPr lang="en-US" dirty="0" err="1"/>
              <a:t>زیر</a:t>
            </a:r>
            <a:r>
              <a:rPr lang="en-US" dirty="0"/>
              <a:t> </a:t>
            </a:r>
            <a:r>
              <a:rPr lang="en-US" dirty="0" err="1"/>
              <a:t>خلاصه</a:t>
            </a:r>
            <a:r>
              <a:rPr lang="en-US" dirty="0"/>
              <a:t> </a:t>
            </a:r>
            <a:r>
              <a:rPr lang="en-US" dirty="0" err="1"/>
              <a:t>کرد</a:t>
            </a:r>
            <a:r>
              <a:rPr lang="en-US" dirty="0"/>
              <a:t>:</a:t>
            </a:r>
          </a:p>
          <a:p>
            <a:pPr algn="r" rtl="1"/>
            <a:endParaRPr lang="en-US" dirty="0"/>
          </a:p>
          <a:p>
            <a:br>
              <a:rPr lang="en-US" dirty="0"/>
            </a:br>
            <a:r>
              <a:rPr lang="en-US" dirty="0" err="1"/>
              <a:t>ضبط</a:t>
            </a:r>
            <a:r>
              <a:rPr lang="en-US" dirty="0"/>
              <a:t> WAV → </a:t>
            </a:r>
            <a:r>
              <a:rPr lang="en-US" dirty="0" err="1"/>
              <a:t>بارگذاری</a:t>
            </a:r>
            <a:r>
              <a:rPr lang="en-US" dirty="0"/>
              <a:t> </a:t>
            </a:r>
            <a:r>
              <a:rPr lang="en-US" dirty="0" err="1"/>
              <a:t>تک‌کاناله</a:t>
            </a:r>
            <a:r>
              <a:rPr lang="en-US" dirty="0"/>
              <a:t> → </a:t>
            </a:r>
            <a:r>
              <a:rPr lang="en-US" dirty="0" err="1"/>
              <a:t>بازنمونه‌برداری</a:t>
            </a:r>
            <a:r>
              <a:rPr lang="en-US" dirty="0"/>
              <a:t> </a:t>
            </a:r>
            <a:r>
              <a:rPr lang="en-US" dirty="0" err="1"/>
              <a:t>در</a:t>
            </a:r>
            <a:r>
              <a:rPr lang="en-US" dirty="0"/>
              <a:t> 16 kHz → </a:t>
            </a:r>
            <a:r>
              <a:rPr lang="en-US" dirty="0" err="1"/>
              <a:t>برش</a:t>
            </a:r>
            <a:r>
              <a:rPr lang="en-US" dirty="0"/>
              <a:t>/</a:t>
            </a:r>
            <a:r>
              <a:rPr lang="en-US" dirty="0" err="1"/>
              <a:t>تکرار</a:t>
            </a:r>
            <a:r>
              <a:rPr lang="en-US" dirty="0"/>
              <a:t> </a:t>
            </a:r>
            <a:r>
              <a:rPr lang="en-US" dirty="0" err="1"/>
              <a:t>تا</a:t>
            </a:r>
            <a:r>
              <a:rPr lang="en-US" dirty="0"/>
              <a:t> 10 s → </a:t>
            </a:r>
            <a:r>
              <a:rPr lang="en-US" dirty="0" err="1"/>
              <a:t>داده‌افزایی</a:t>
            </a:r>
            <a:r>
              <a:rPr lang="en-US" dirty="0"/>
              <a:t> → </a:t>
            </a:r>
            <a:r>
              <a:rPr lang="en-US" dirty="0" err="1"/>
              <a:t>استخراج</a:t>
            </a:r>
            <a:r>
              <a:rPr lang="en-US" dirty="0"/>
              <a:t> MFCC → </a:t>
            </a:r>
            <a:r>
              <a:rPr lang="en-US" dirty="0" err="1"/>
              <a:t>تخت‌کردن</a:t>
            </a:r>
            <a:r>
              <a:rPr lang="en-US" dirty="0"/>
              <a:t> </a:t>
            </a:r>
            <a:r>
              <a:rPr lang="en-US" dirty="0" err="1"/>
              <a:t>ماتریس</a:t>
            </a:r>
            <a:r>
              <a:rPr lang="en-US" dirty="0"/>
              <a:t> → </a:t>
            </a:r>
            <a:r>
              <a:rPr lang="en-US" dirty="0" err="1"/>
              <a:t>افزودن</a:t>
            </a:r>
            <a:r>
              <a:rPr lang="en-US" dirty="0"/>
              <a:t> </a:t>
            </a:r>
            <a:r>
              <a:rPr lang="en-US" dirty="0" err="1"/>
              <a:t>برچسب</a:t>
            </a:r>
            <a:r>
              <a:rPr lang="en-US" dirty="0"/>
              <a:t> → </a:t>
            </a:r>
            <a:r>
              <a:rPr lang="en-US" dirty="0" err="1"/>
              <a:t>ذخیره</a:t>
            </a:r>
            <a:r>
              <a:rPr lang="en-US" dirty="0"/>
              <a:t> </a:t>
            </a:r>
            <a:r>
              <a:rPr lang="en-US" dirty="0" err="1"/>
              <a:t>در</a:t>
            </a:r>
            <a:r>
              <a:rPr lang="en-US" dirty="0"/>
              <a:t> CSV → </a:t>
            </a:r>
            <a:r>
              <a:rPr lang="en-US" dirty="0" err="1"/>
              <a:t>استانداردسازی</a:t>
            </a:r>
            <a:r>
              <a:rPr lang="en-US" dirty="0"/>
              <a:t> </a:t>
            </a:r>
            <a:r>
              <a:rPr lang="en-US" dirty="0" err="1"/>
              <a:t>ویژگی‌ها</a:t>
            </a:r>
            <a:r>
              <a:rPr lang="en-US" dirty="0"/>
              <a:t> → </a:t>
            </a:r>
            <a:r>
              <a:rPr lang="en-US" dirty="0" err="1"/>
              <a:t>تفکیک</a:t>
            </a:r>
            <a:r>
              <a:rPr lang="en-US" dirty="0"/>
              <a:t> </a:t>
            </a:r>
            <a:r>
              <a:rPr lang="en-US" dirty="0" err="1"/>
              <a:t>آموزش</a:t>
            </a:r>
            <a:r>
              <a:rPr lang="en-US" dirty="0"/>
              <a:t> و </a:t>
            </a:r>
            <a:r>
              <a:rPr lang="en-US" dirty="0" err="1"/>
              <a:t>آزمون</a:t>
            </a:r>
            <a:endParaRPr lang="en-US" dirty="0"/>
          </a:p>
        </p:txBody>
      </p:sp>
    </p:spTree>
    <p:extLst>
      <p:ext uri="{BB962C8B-B14F-4D97-AF65-F5344CB8AC3E}">
        <p14:creationId xmlns:p14="http://schemas.microsoft.com/office/powerpoint/2010/main" val="1807658592"/>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6F09F-9A4F-B82C-6C5A-56E797037EA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5185A3-5B39-FB73-6434-234AFBEC9C91}"/>
              </a:ext>
            </a:extLst>
          </p:cNvPr>
          <p:cNvSpPr txBox="1"/>
          <p:nvPr/>
        </p:nvSpPr>
        <p:spPr>
          <a:xfrm>
            <a:off x="147484" y="120097"/>
            <a:ext cx="10012515" cy="1200329"/>
          </a:xfrm>
          <a:prstGeom prst="rect">
            <a:avLst/>
          </a:prstGeom>
          <a:noFill/>
        </p:spPr>
        <p:txBody>
          <a:bodyPr wrap="square" rtlCol="0">
            <a:spAutoFit/>
          </a:bodyPr>
          <a:lstStyle/>
          <a:p>
            <a:pPr algn="r" rtl="1"/>
            <a:r>
              <a:rPr lang="en-US" sz="2400" b="1" dirty="0">
                <a:cs typeface="B Nazanin" panose="00000400000000000000" pitchFamily="2" charset="-78"/>
              </a:rPr>
              <a:t>۲. </a:t>
            </a:r>
            <a:r>
              <a:rPr lang="en-US" sz="2400" b="1" dirty="0" err="1">
                <a:cs typeface="B Nazanin" panose="00000400000000000000" pitchFamily="2" charset="-78"/>
              </a:rPr>
              <a:t>گردآوری</a:t>
            </a:r>
            <a:r>
              <a:rPr lang="en-US" sz="2400" b="1" dirty="0">
                <a:cs typeface="B Nazanin" panose="00000400000000000000" pitchFamily="2" charset="-78"/>
              </a:rPr>
              <a:t> و </a:t>
            </a:r>
            <a:r>
              <a:rPr lang="en-US" sz="2400" b="1" dirty="0" err="1">
                <a:cs typeface="B Nazanin" panose="00000400000000000000" pitchFamily="2" charset="-78"/>
              </a:rPr>
              <a:t>سازمان‌دهی</a:t>
            </a:r>
            <a:r>
              <a:rPr lang="en-US" sz="2400" b="1" dirty="0">
                <a:cs typeface="B Nazanin" panose="00000400000000000000" pitchFamily="2" charset="-78"/>
              </a:rPr>
              <a:t> </a:t>
            </a:r>
            <a:r>
              <a:rPr lang="en-US" sz="2400" b="1" dirty="0" err="1">
                <a:cs typeface="B Nazanin" panose="00000400000000000000" pitchFamily="2" charset="-78"/>
              </a:rPr>
              <a:t>داده</a:t>
            </a:r>
            <a:endParaRPr lang="en-US" sz="2400" b="1" dirty="0">
              <a:cs typeface="B Nazanin" panose="00000400000000000000" pitchFamily="2" charset="-78"/>
            </a:endParaRPr>
          </a:p>
          <a:p>
            <a:pPr algn="r" rtl="1"/>
            <a:r>
              <a:rPr lang="en-US" sz="2400" dirty="0" err="1">
                <a:cs typeface="B Nazanin" panose="00000400000000000000" pitchFamily="2" charset="-78"/>
              </a:rPr>
              <a:t>فایل‌های</a:t>
            </a:r>
            <a:r>
              <a:rPr lang="en-US" sz="2400" dirty="0">
                <a:cs typeface="B Nazanin" panose="00000400000000000000" pitchFamily="2" charset="-78"/>
              </a:rPr>
              <a:t> </a:t>
            </a:r>
            <a:r>
              <a:rPr lang="en-US" sz="2400" dirty="0" err="1">
                <a:cs typeface="B Nazanin" panose="00000400000000000000" pitchFamily="2" charset="-78"/>
              </a:rPr>
              <a:t>خام</a:t>
            </a:r>
            <a:r>
              <a:rPr lang="en-US" sz="2400" dirty="0">
                <a:cs typeface="B Nazanin" panose="00000400000000000000" pitchFamily="2" charset="-78"/>
              </a:rPr>
              <a:t> </a:t>
            </a:r>
            <a:r>
              <a:rPr lang="en-US" sz="2400" dirty="0" err="1">
                <a:cs typeface="B Nazanin" panose="00000400000000000000" pitchFamily="2" charset="-78"/>
              </a:rPr>
              <a:t>به‌صورت</a:t>
            </a:r>
            <a:r>
              <a:rPr lang="en-US" sz="2400" dirty="0">
                <a:cs typeface="B Nazanin" panose="00000400000000000000" pitchFamily="2" charset="-78"/>
              </a:rPr>
              <a:t> </a:t>
            </a:r>
            <a:r>
              <a:rPr lang="en-US" sz="2400" dirty="0" err="1">
                <a:cs typeface="B Nazanin" panose="00000400000000000000" pitchFamily="2" charset="-78"/>
              </a:rPr>
              <a:t>ضبط‌های</a:t>
            </a:r>
            <a:r>
              <a:rPr lang="en-US" sz="2400" dirty="0">
                <a:cs typeface="B Nazanin" panose="00000400000000000000" pitchFamily="2" charset="-78"/>
              </a:rPr>
              <a:t> WAV و </a:t>
            </a:r>
            <a:r>
              <a:rPr lang="en-US" sz="2400" dirty="0" err="1">
                <a:cs typeface="B Nazanin" panose="00000400000000000000" pitchFamily="2" charset="-78"/>
              </a:rPr>
              <a:t>در</a:t>
            </a:r>
            <a:r>
              <a:rPr lang="en-US" sz="2400" dirty="0">
                <a:cs typeface="B Nazanin" panose="00000400000000000000" pitchFamily="2" charset="-78"/>
              </a:rPr>
              <a:t> </a:t>
            </a:r>
            <a:r>
              <a:rPr lang="en-US" sz="2400" dirty="0" err="1">
                <a:cs typeface="B Nazanin" panose="00000400000000000000" pitchFamily="2" charset="-78"/>
              </a:rPr>
              <a:t>پوشه‌های</a:t>
            </a:r>
            <a:r>
              <a:rPr lang="en-US" sz="2400" dirty="0">
                <a:cs typeface="B Nazanin" panose="00000400000000000000" pitchFamily="2" charset="-78"/>
              </a:rPr>
              <a:t> </a:t>
            </a:r>
            <a:r>
              <a:rPr lang="en-US" sz="2400" dirty="0" err="1">
                <a:cs typeface="B Nazanin" panose="00000400000000000000" pitchFamily="2" charset="-78"/>
              </a:rPr>
              <a:t>متناظر</a:t>
            </a:r>
            <a:r>
              <a:rPr lang="en-US" sz="2400" dirty="0">
                <a:cs typeface="B Nazanin" panose="00000400000000000000" pitchFamily="2" charset="-78"/>
              </a:rPr>
              <a:t> </a:t>
            </a:r>
            <a:r>
              <a:rPr lang="en-US" sz="2400" dirty="0" err="1">
                <a:cs typeface="B Nazanin" panose="00000400000000000000" pitchFamily="2" charset="-78"/>
              </a:rPr>
              <a:t>با</a:t>
            </a:r>
            <a:r>
              <a:rPr lang="en-US" sz="2400" dirty="0">
                <a:cs typeface="B Nazanin" panose="00000400000000000000" pitchFamily="2" charset="-78"/>
              </a:rPr>
              <a:t> </a:t>
            </a:r>
            <a:r>
              <a:rPr lang="en-US" sz="2400" dirty="0" err="1">
                <a:cs typeface="B Nazanin" panose="00000400000000000000" pitchFamily="2" charset="-78"/>
              </a:rPr>
              <a:t>وضعیت</a:t>
            </a:r>
            <a:r>
              <a:rPr lang="en-US" sz="2400" dirty="0">
                <a:cs typeface="B Nazanin" panose="00000400000000000000" pitchFamily="2" charset="-78"/>
              </a:rPr>
              <a:t> </a:t>
            </a:r>
            <a:r>
              <a:rPr lang="en-US" sz="2400" dirty="0" err="1">
                <a:cs typeface="B Nazanin" panose="00000400000000000000" pitchFamily="2" charset="-78"/>
              </a:rPr>
              <a:t>موتور</a:t>
            </a:r>
            <a:r>
              <a:rPr lang="en-US" sz="2400" dirty="0">
                <a:cs typeface="B Nazanin" panose="00000400000000000000" pitchFamily="2" charset="-78"/>
              </a:rPr>
              <a:t> </a:t>
            </a:r>
            <a:r>
              <a:rPr lang="en-US" sz="2400" dirty="0" err="1">
                <a:cs typeface="B Nazanin" panose="00000400000000000000" pitchFamily="2" charset="-78"/>
              </a:rPr>
              <a:t>قرار</a:t>
            </a:r>
            <a:r>
              <a:rPr lang="en-US" sz="2400" dirty="0">
                <a:cs typeface="B Nazanin" panose="00000400000000000000" pitchFamily="2" charset="-78"/>
              </a:rPr>
              <a:t> </a:t>
            </a:r>
            <a:r>
              <a:rPr lang="en-US" sz="2400" dirty="0" err="1">
                <a:cs typeface="B Nazanin" panose="00000400000000000000" pitchFamily="2" charset="-78"/>
              </a:rPr>
              <a:t>دارند</a:t>
            </a:r>
            <a:r>
              <a:rPr lang="en-US" sz="2400" dirty="0">
                <a:cs typeface="B Nazanin" panose="00000400000000000000" pitchFamily="2" charset="-78"/>
              </a:rPr>
              <a:t>:</a:t>
            </a:r>
          </a:p>
          <a:p>
            <a:pPr algn="r" rtl="1"/>
            <a:endParaRPr lang="en-US" sz="2400" dirty="0">
              <a:cs typeface="B Nazanin" panose="00000400000000000000" pitchFamily="2" charset="-78"/>
            </a:endParaRPr>
          </a:p>
        </p:txBody>
      </p:sp>
      <p:graphicFrame>
        <p:nvGraphicFramePr>
          <p:cNvPr id="9" name="Table 8">
            <a:extLst>
              <a:ext uri="{FF2B5EF4-FFF2-40B4-BE49-F238E27FC236}">
                <a16:creationId xmlns:a16="http://schemas.microsoft.com/office/drawing/2014/main" id="{26416E66-E6AC-902A-AC09-89C8D53B0302}"/>
              </a:ext>
            </a:extLst>
          </p:cNvPr>
          <p:cNvGraphicFramePr>
            <a:graphicFrameLocks noGrp="1"/>
          </p:cNvGraphicFramePr>
          <p:nvPr>
            <p:extLst>
              <p:ext uri="{D42A27DB-BD31-4B8C-83A1-F6EECF244321}">
                <p14:modId xmlns:p14="http://schemas.microsoft.com/office/powerpoint/2010/main" val="787363952"/>
              </p:ext>
            </p:extLst>
          </p:nvPr>
        </p:nvGraphicFramePr>
        <p:xfrm>
          <a:off x="2007946" y="3586530"/>
          <a:ext cx="8176107" cy="1828800"/>
        </p:xfrm>
        <a:graphic>
          <a:graphicData uri="http://schemas.openxmlformats.org/drawingml/2006/table">
            <a:tbl>
              <a:tblPr/>
              <a:tblGrid>
                <a:gridCol w="2725369">
                  <a:extLst>
                    <a:ext uri="{9D8B030D-6E8A-4147-A177-3AD203B41FA5}">
                      <a16:colId xmlns:a16="http://schemas.microsoft.com/office/drawing/2014/main" val="3100738957"/>
                    </a:ext>
                  </a:extLst>
                </a:gridCol>
                <a:gridCol w="2725369">
                  <a:extLst>
                    <a:ext uri="{9D8B030D-6E8A-4147-A177-3AD203B41FA5}">
                      <a16:colId xmlns:a16="http://schemas.microsoft.com/office/drawing/2014/main" val="1502035081"/>
                    </a:ext>
                  </a:extLst>
                </a:gridCol>
                <a:gridCol w="2725369">
                  <a:extLst>
                    <a:ext uri="{9D8B030D-6E8A-4147-A177-3AD203B41FA5}">
                      <a16:colId xmlns:a16="http://schemas.microsoft.com/office/drawing/2014/main" val="3910814569"/>
                    </a:ext>
                  </a:extLst>
                </a:gridCol>
              </a:tblGrid>
              <a:tr h="0">
                <a:tc>
                  <a:txBody>
                    <a:bodyPr/>
                    <a:lstStyle/>
                    <a:p>
                      <a:pPr algn="l">
                        <a:buNone/>
                      </a:pPr>
                      <a:r>
                        <a:rPr lang="en-US" b="1">
                          <a:effectLst/>
                        </a:rPr>
                        <a:t>کلاس</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tc>
                  <a:txBody>
                    <a:bodyPr/>
                    <a:lstStyle/>
                    <a:p>
                      <a:pPr algn="r">
                        <a:buNone/>
                      </a:pPr>
                      <a:r>
                        <a:rPr lang="en-US" b="1" dirty="0" err="1">
                          <a:effectLst/>
                        </a:rPr>
                        <a:t>تعداد</a:t>
                      </a:r>
                      <a:r>
                        <a:rPr lang="en-US" b="1" dirty="0">
                          <a:effectLst/>
                        </a:rPr>
                        <a:t> </a:t>
                      </a:r>
                      <a:r>
                        <a:rPr lang="en-US" b="1" dirty="0" err="1">
                          <a:effectLst/>
                        </a:rPr>
                        <a:t>ضبط</a:t>
                      </a:r>
                      <a:r>
                        <a:rPr lang="en-US" b="1" dirty="0">
                          <a:effectLst/>
                        </a:rPr>
                        <a:t> </a:t>
                      </a:r>
                      <a:r>
                        <a:rPr lang="en-US" b="1" dirty="0" err="1">
                          <a:effectLst/>
                        </a:rPr>
                        <a:t>اصلی</a:t>
                      </a:r>
                      <a:endParaRPr lang="en-US" b="1" dirty="0">
                        <a:effectLst/>
                      </a:endParaRP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tc>
                  <a:txBody>
                    <a:bodyPr/>
                    <a:lstStyle/>
                    <a:p>
                      <a:pPr algn="r">
                        <a:buNone/>
                      </a:pPr>
                      <a:r>
                        <a:rPr lang="en-US" b="1" dirty="0" err="1">
                          <a:effectLst/>
                        </a:rPr>
                        <a:t>تعداد</a:t>
                      </a:r>
                      <a:r>
                        <a:rPr lang="en-US" b="1" dirty="0">
                          <a:effectLst/>
                        </a:rPr>
                        <a:t> </a:t>
                      </a:r>
                      <a:r>
                        <a:rPr lang="en-US" b="1" dirty="0" err="1">
                          <a:effectLst/>
                        </a:rPr>
                        <a:t>نمونه</a:t>
                      </a:r>
                      <a:r>
                        <a:rPr lang="en-US" b="1" dirty="0">
                          <a:effectLst/>
                        </a:rPr>
                        <a:t> </a:t>
                      </a:r>
                      <a:r>
                        <a:rPr lang="en-US" b="1" dirty="0" err="1">
                          <a:effectLst/>
                        </a:rPr>
                        <a:t>پس</a:t>
                      </a:r>
                      <a:r>
                        <a:rPr lang="en-US" b="1" dirty="0">
                          <a:effectLst/>
                        </a:rPr>
                        <a:t> </a:t>
                      </a:r>
                      <a:r>
                        <a:rPr lang="en-US" b="1" dirty="0" err="1">
                          <a:effectLst/>
                        </a:rPr>
                        <a:t>از</a:t>
                      </a:r>
                      <a:r>
                        <a:rPr lang="en-US" b="1" dirty="0">
                          <a:effectLst/>
                        </a:rPr>
                        <a:t> </a:t>
                      </a:r>
                      <a:r>
                        <a:rPr lang="en-US" b="1" dirty="0" err="1">
                          <a:effectLst/>
                        </a:rPr>
                        <a:t>داده‌افزایی</a:t>
                      </a:r>
                      <a:endParaRPr lang="en-US" b="1" dirty="0">
                        <a:effectLst/>
                      </a:endParaRP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extLst>
                  <a:ext uri="{0D108BD9-81ED-4DB2-BD59-A6C34878D82A}">
                    <a16:rowId xmlns:a16="http://schemas.microsoft.com/office/drawing/2014/main" val="2046145178"/>
                  </a:ext>
                </a:extLst>
              </a:tr>
              <a:tr h="0">
                <a:tc>
                  <a:txBody>
                    <a:bodyPr/>
                    <a:lstStyle/>
                    <a:p>
                      <a:pPr>
                        <a:buNone/>
                      </a:pPr>
                      <a:r>
                        <a:rPr lang="en-US">
                          <a:effectLst/>
                        </a:rPr>
                        <a:t>Healthy</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tc>
                  <a:txBody>
                    <a:bodyPr/>
                    <a:lstStyle/>
                    <a:p>
                      <a:pPr algn="r">
                        <a:buNone/>
                      </a:pPr>
                      <a:r>
                        <a:rPr lang="en-US">
                          <a:effectLst/>
                        </a:rPr>
                        <a:t>۲۲</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tc>
                  <a:txBody>
                    <a:bodyPr/>
                    <a:lstStyle/>
                    <a:p>
                      <a:pPr algn="r">
                        <a:buNone/>
                      </a:pPr>
                      <a:r>
                        <a:rPr lang="en-US">
                          <a:effectLst/>
                        </a:rPr>
                        <a:t>۳۵۲</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extLst>
                  <a:ext uri="{0D108BD9-81ED-4DB2-BD59-A6C34878D82A}">
                    <a16:rowId xmlns:a16="http://schemas.microsoft.com/office/drawing/2014/main" val="252912234"/>
                  </a:ext>
                </a:extLst>
              </a:tr>
              <a:tr h="0">
                <a:tc>
                  <a:txBody>
                    <a:bodyPr/>
                    <a:lstStyle/>
                    <a:p>
                      <a:pPr>
                        <a:buNone/>
                      </a:pPr>
                      <a:r>
                        <a:rPr lang="en-US">
                          <a:effectLst/>
                        </a:rPr>
                        <a:t>Bearing</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tc>
                  <a:txBody>
                    <a:bodyPr/>
                    <a:lstStyle/>
                    <a:p>
                      <a:pPr algn="r">
                        <a:buNone/>
                      </a:pPr>
                      <a:r>
                        <a:rPr lang="en-US" dirty="0">
                          <a:effectLst/>
                        </a:rPr>
                        <a:t>۷</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tc>
                  <a:txBody>
                    <a:bodyPr/>
                    <a:lstStyle/>
                    <a:p>
                      <a:pPr algn="r">
                        <a:buNone/>
                      </a:pPr>
                      <a:r>
                        <a:rPr lang="en-US">
                          <a:effectLst/>
                        </a:rPr>
                        <a:t>۱۱۲</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extLst>
                  <a:ext uri="{0D108BD9-81ED-4DB2-BD59-A6C34878D82A}">
                    <a16:rowId xmlns:a16="http://schemas.microsoft.com/office/drawing/2014/main" val="3674571565"/>
                  </a:ext>
                </a:extLst>
              </a:tr>
              <a:tr h="0">
                <a:tc>
                  <a:txBody>
                    <a:bodyPr/>
                    <a:lstStyle/>
                    <a:p>
                      <a:pPr>
                        <a:buNone/>
                      </a:pPr>
                      <a:r>
                        <a:rPr lang="en-US">
                          <a:effectLst/>
                        </a:rPr>
                        <a:t>Propeller</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tc>
                  <a:txBody>
                    <a:bodyPr/>
                    <a:lstStyle/>
                    <a:p>
                      <a:pPr algn="r">
                        <a:buNone/>
                      </a:pPr>
                      <a:r>
                        <a:rPr lang="en-US" dirty="0">
                          <a:effectLst/>
                        </a:rPr>
                        <a:t>۱۴</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tc>
                  <a:txBody>
                    <a:bodyPr/>
                    <a:lstStyle/>
                    <a:p>
                      <a:pPr algn="r">
                        <a:buNone/>
                      </a:pPr>
                      <a:r>
                        <a:rPr lang="en-US">
                          <a:effectLst/>
                        </a:rPr>
                        <a:t>۲۲۴</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extLst>
                  <a:ext uri="{0D108BD9-81ED-4DB2-BD59-A6C34878D82A}">
                    <a16:rowId xmlns:a16="http://schemas.microsoft.com/office/drawing/2014/main" val="1332674763"/>
                  </a:ext>
                </a:extLst>
              </a:tr>
              <a:tr h="0">
                <a:tc>
                  <a:txBody>
                    <a:bodyPr/>
                    <a:lstStyle/>
                    <a:p>
                      <a:pPr>
                        <a:buNone/>
                      </a:pPr>
                      <a:r>
                        <a:rPr lang="en-US" b="1">
                          <a:effectLst/>
                        </a:rPr>
                        <a:t>مجموع</a:t>
                      </a:r>
                      <a:endParaRPr lang="en-US">
                        <a:effectLst/>
                      </a:endParaRP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tc>
                  <a:txBody>
                    <a:bodyPr/>
                    <a:lstStyle/>
                    <a:p>
                      <a:pPr algn="r">
                        <a:buNone/>
                      </a:pPr>
                      <a:r>
                        <a:rPr lang="en-US" b="1" dirty="0">
                          <a:effectLst/>
                        </a:rPr>
                        <a:t>۴۳</a:t>
                      </a:r>
                      <a:endParaRPr lang="en-US" dirty="0">
                        <a:effectLst/>
                      </a:endParaRP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tc>
                  <a:txBody>
                    <a:bodyPr/>
                    <a:lstStyle/>
                    <a:p>
                      <a:pPr algn="r">
                        <a:buNone/>
                      </a:pPr>
                      <a:r>
                        <a:rPr lang="en-US" b="1" dirty="0">
                          <a:effectLst/>
                        </a:rPr>
                        <a:t>۶۸۸</a:t>
                      </a:r>
                      <a:endParaRPr lang="en-US" dirty="0">
                        <a:effectLst/>
                      </a:endParaRP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C34"/>
                    </a:solidFill>
                  </a:tcPr>
                </a:tc>
                <a:extLst>
                  <a:ext uri="{0D108BD9-81ED-4DB2-BD59-A6C34878D82A}">
                    <a16:rowId xmlns:a16="http://schemas.microsoft.com/office/drawing/2014/main" val="68201746"/>
                  </a:ext>
                </a:extLst>
              </a:tr>
            </a:tbl>
          </a:graphicData>
        </a:graphic>
      </p:graphicFrame>
      <p:sp>
        <p:nvSpPr>
          <p:cNvPr id="11" name="TextBox 10">
            <a:extLst>
              <a:ext uri="{FF2B5EF4-FFF2-40B4-BE49-F238E27FC236}">
                <a16:creationId xmlns:a16="http://schemas.microsoft.com/office/drawing/2014/main" id="{1FFB47E6-520C-E02A-9A70-89FF9C850192}"/>
              </a:ext>
            </a:extLst>
          </p:cNvPr>
          <p:cNvSpPr txBox="1"/>
          <p:nvPr/>
        </p:nvSpPr>
        <p:spPr>
          <a:xfrm>
            <a:off x="1415845" y="1209368"/>
            <a:ext cx="9202468" cy="2062103"/>
          </a:xfrm>
          <a:prstGeom prst="rect">
            <a:avLst/>
          </a:prstGeom>
          <a:noFill/>
        </p:spPr>
        <p:txBody>
          <a:bodyPr wrap="square">
            <a:spAutoFit/>
          </a:bodyPr>
          <a:lstStyle/>
          <a:p>
            <a:pPr algn="r" rtl="1">
              <a:spcAft>
                <a:spcPts val="1200"/>
              </a:spcAft>
              <a:buNone/>
            </a:pPr>
            <a:r>
              <a:rPr lang="en-US" b="0" i="0" dirty="0" err="1">
                <a:effectLst/>
                <a:latin typeface="-apple-system"/>
                <a:cs typeface="B Nazanin" panose="00000400000000000000" pitchFamily="2" charset="-78"/>
              </a:rPr>
              <a:t>تابع</a:t>
            </a:r>
            <a:r>
              <a:rPr lang="en-US" b="0" i="0" dirty="0">
                <a:effectLst/>
                <a:latin typeface="-apple-system"/>
                <a:cs typeface="B Nazanin" panose="00000400000000000000" pitchFamily="2" charset="-78"/>
              </a:rPr>
              <a:t> </a:t>
            </a:r>
            <a:r>
              <a:rPr lang="en-US" b="0" i="0" dirty="0" err="1">
                <a:effectLst/>
                <a:latin typeface="Consolas" panose="020B0609020204030204" pitchFamily="49" charset="0"/>
                <a:cs typeface="B Nazanin" panose="00000400000000000000" pitchFamily="2" charset="-78"/>
              </a:rPr>
              <a:t>build_dataset</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فایل‌ها</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را</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با</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نام‌های</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عددی</a:t>
            </a:r>
            <a:r>
              <a:rPr lang="en-US" b="0" i="0" dirty="0">
                <a:effectLst/>
                <a:latin typeface="-apple-system"/>
                <a:cs typeface="B Nazanin" panose="00000400000000000000" pitchFamily="2" charset="-78"/>
              </a:rPr>
              <a:t> </a:t>
            </a:r>
            <a:r>
              <a:rPr lang="en-US" b="0" i="0" dirty="0">
                <a:effectLst/>
                <a:latin typeface="Consolas" panose="020B0609020204030204" pitchFamily="49" charset="0"/>
                <a:cs typeface="B Nazanin" panose="00000400000000000000" pitchFamily="2" charset="-78"/>
              </a:rPr>
              <a:t>1.wav</a:t>
            </a:r>
            <a:r>
              <a:rPr lang="en-US" b="0" i="0" dirty="0">
                <a:effectLst/>
                <a:latin typeface="-apple-system"/>
                <a:cs typeface="B Nazanin" panose="00000400000000000000" pitchFamily="2" charset="-78"/>
              </a:rPr>
              <a:t>، </a:t>
            </a:r>
            <a:r>
              <a:rPr lang="en-US" b="0" i="0" dirty="0">
                <a:effectLst/>
                <a:latin typeface="Consolas" panose="020B0609020204030204" pitchFamily="49" charset="0"/>
                <a:cs typeface="B Nazanin" panose="00000400000000000000" pitchFamily="2" charset="-78"/>
              </a:rPr>
              <a:t>2.wav</a:t>
            </a:r>
            <a:r>
              <a:rPr lang="en-US" b="0" i="0" dirty="0">
                <a:effectLst/>
                <a:latin typeface="-apple-system"/>
                <a:cs typeface="B Nazanin" panose="00000400000000000000" pitchFamily="2" charset="-78"/>
              </a:rPr>
              <a:t> و </a:t>
            </a:r>
            <a:r>
              <a:rPr lang="en-US" b="0" i="0" dirty="0" err="1">
                <a:effectLst/>
                <a:latin typeface="-apple-system"/>
                <a:cs typeface="B Nazanin" panose="00000400000000000000" pitchFamily="2" charset="-78"/>
              </a:rPr>
              <a:t>مانند</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آن</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می‌خواند</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در</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نسخه</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بررسی‌شده</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توزیع</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ضبط‌های</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مستقل</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چنین</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است</a:t>
            </a:r>
            <a:r>
              <a:rPr lang="en-US" b="0" i="0" dirty="0">
                <a:effectLst/>
                <a:latin typeface="-apple-system"/>
                <a:cs typeface="B Nazanin" panose="00000400000000000000" pitchFamily="2" charset="-78"/>
              </a:rPr>
              <a:t>:</a:t>
            </a:r>
          </a:p>
          <a:p>
            <a:pPr algn="r" rtl="1">
              <a:spcAft>
                <a:spcPts val="1200"/>
              </a:spcAft>
              <a:buNone/>
            </a:pPr>
            <a:r>
              <a:rPr lang="en-US" b="0" i="0" dirty="0" err="1">
                <a:effectLst/>
                <a:latin typeface="-apple-system"/>
                <a:cs typeface="B Nazanin" panose="00000400000000000000" pitchFamily="2" charset="-78"/>
              </a:rPr>
              <a:t>هر</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فایل</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باید</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در</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شرایطی</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نسبتاً</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کنترل‌شده</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ثبت</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شود</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محل</a:t>
            </a:r>
            <a:r>
              <a:rPr lang="en-US" b="0" i="0" dirty="0">
                <a:effectLst/>
                <a:latin typeface="-apple-system"/>
                <a:cs typeface="B Nazanin" panose="00000400000000000000" pitchFamily="2" charset="-78"/>
              </a:rPr>
              <a:t> و </a:t>
            </a:r>
            <a:r>
              <a:rPr lang="en-US" b="0" i="0" dirty="0" err="1">
                <a:effectLst/>
                <a:latin typeface="-apple-system"/>
                <a:cs typeface="B Nazanin" panose="00000400000000000000" pitchFamily="2" charset="-78"/>
              </a:rPr>
              <a:t>جهت</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میکروفون</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فاصله</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از</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موتور</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سرعت</a:t>
            </a:r>
            <a:r>
              <a:rPr lang="en-US" b="0" i="0" dirty="0">
                <a:effectLst/>
                <a:latin typeface="-apple-system"/>
                <a:cs typeface="B Nazanin" panose="00000400000000000000" pitchFamily="2" charset="-78"/>
              </a:rPr>
              <a:t> و </a:t>
            </a:r>
            <a:r>
              <a:rPr lang="en-US" b="0" i="0" dirty="0" err="1">
                <a:effectLst/>
                <a:latin typeface="-apple-system"/>
                <a:cs typeface="B Nazanin" panose="00000400000000000000" pitchFamily="2" charset="-78"/>
              </a:rPr>
              <a:t>بار</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موتور</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نرخ</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نمونه‌برداری</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بهره</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ضبط</a:t>
            </a:r>
            <a:r>
              <a:rPr lang="en-US" b="0" i="0" dirty="0">
                <a:effectLst/>
                <a:latin typeface="-apple-system"/>
                <a:cs typeface="B Nazanin" panose="00000400000000000000" pitchFamily="2" charset="-78"/>
              </a:rPr>
              <a:t> و </a:t>
            </a:r>
            <a:r>
              <a:rPr lang="en-US" b="0" i="0" dirty="0" err="1">
                <a:effectLst/>
                <a:latin typeface="-apple-system"/>
                <a:cs typeface="B Nazanin" panose="00000400000000000000" pitchFamily="2" charset="-78"/>
              </a:rPr>
              <a:t>نویز</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محیط</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بهتر</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است</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ثبت</a:t>
            </a:r>
            <a:r>
              <a:rPr lang="en-US" b="0" i="0" dirty="0">
                <a:effectLst/>
                <a:latin typeface="-apple-system"/>
                <a:cs typeface="B Nazanin" panose="00000400000000000000" pitchFamily="2" charset="-78"/>
              </a:rPr>
              <a:t> و </a:t>
            </a:r>
            <a:r>
              <a:rPr lang="en-US" b="0" i="0" dirty="0" err="1">
                <a:effectLst/>
                <a:latin typeface="-apple-system"/>
                <a:cs typeface="B Nazanin" panose="00000400000000000000" pitchFamily="2" charset="-78"/>
              </a:rPr>
              <a:t>تا</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حد</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امکان</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ثابت</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نگه</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داشته</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شوند</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در</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غیر</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این</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صورت</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مدل</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ممکن</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است</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شرایط</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ضبط</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را</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به</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جای</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وضعیت</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مکانیکی</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موتور</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یاد</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بگیرد</a:t>
            </a:r>
            <a:r>
              <a:rPr lang="en-US" b="0" i="0" dirty="0">
                <a:effectLst/>
                <a:latin typeface="-apple-system"/>
                <a:cs typeface="B Nazanin" panose="00000400000000000000" pitchFamily="2" charset="-78"/>
              </a:rPr>
              <a:t>.</a:t>
            </a:r>
          </a:p>
          <a:p>
            <a:pPr algn="r" rtl="1">
              <a:buNone/>
            </a:pPr>
            <a:r>
              <a:rPr lang="en-US" b="1" i="0" dirty="0" err="1">
                <a:effectLst/>
                <a:latin typeface="-apple-system"/>
                <a:cs typeface="B Nazanin" panose="00000400000000000000" pitchFamily="2" charset="-78"/>
              </a:rPr>
              <a:t>نکته</a:t>
            </a:r>
            <a:r>
              <a:rPr lang="en-US" b="1" i="0" dirty="0">
                <a:effectLst/>
                <a:latin typeface="-apple-system"/>
                <a:cs typeface="B Nazanin" panose="00000400000000000000" pitchFamily="2" charset="-78"/>
              </a:rPr>
              <a:t> </a:t>
            </a:r>
            <a:r>
              <a:rPr lang="en-US" b="1" i="0" dirty="0" err="1">
                <a:effectLst/>
                <a:latin typeface="-apple-system"/>
                <a:cs typeface="B Nazanin" panose="00000400000000000000" pitchFamily="2" charset="-78"/>
              </a:rPr>
              <a:t>پیاده‌سازی</a:t>
            </a:r>
            <a:r>
              <a:rPr lang="en-US" b="1" i="0" dirty="0">
                <a:effectLst/>
                <a:latin typeface="-apple-system"/>
                <a:cs typeface="B Nazanin" panose="00000400000000000000" pitchFamily="2" charset="-78"/>
              </a:rPr>
              <a:t>:</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پیمایش</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هر</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پوشه</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با</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اولین</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شماره</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ناموجود</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متوقف</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می‌شود</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بنابراین</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شماره‌گذاری</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فایل‌ها</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باید</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پیوسته</a:t>
            </a:r>
            <a:r>
              <a:rPr lang="en-US" b="0" i="0" dirty="0">
                <a:effectLst/>
                <a:latin typeface="-apple-system"/>
                <a:cs typeface="B Nazanin" panose="00000400000000000000" pitchFamily="2" charset="-78"/>
              </a:rPr>
              <a:t> </a:t>
            </a:r>
            <a:r>
              <a:rPr lang="en-US" b="0" i="0" dirty="0" err="1">
                <a:effectLst/>
                <a:latin typeface="-apple-system"/>
                <a:cs typeface="B Nazanin" panose="00000400000000000000" pitchFamily="2" charset="-78"/>
              </a:rPr>
              <a:t>باشد</a:t>
            </a:r>
            <a:r>
              <a:rPr lang="en-US" b="0" i="0" dirty="0">
                <a:effectLst/>
                <a:latin typeface="-apple-system"/>
                <a:cs typeface="B Nazanin" panose="00000400000000000000" pitchFamily="2" charset="-78"/>
              </a:rPr>
              <a:t>.</a:t>
            </a:r>
          </a:p>
        </p:txBody>
      </p:sp>
    </p:spTree>
    <p:extLst>
      <p:ext uri="{BB962C8B-B14F-4D97-AF65-F5344CB8AC3E}">
        <p14:creationId xmlns:p14="http://schemas.microsoft.com/office/powerpoint/2010/main" val="3026694361"/>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6B182-4CDC-5105-8163-6ED191264ABF}"/>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0A54C84B-D056-C845-F34B-89DF25D82F06}"/>
                  </a:ext>
                </a:extLst>
              </p:cNvPr>
              <p:cNvSpPr txBox="1"/>
              <p:nvPr/>
            </p:nvSpPr>
            <p:spPr>
              <a:xfrm>
                <a:off x="379891" y="140785"/>
                <a:ext cx="9971207" cy="7079374"/>
              </a:xfrm>
              <a:prstGeom prst="rect">
                <a:avLst/>
              </a:prstGeom>
              <a:noFill/>
            </p:spPr>
            <p:txBody>
              <a:bodyPr wrap="square" rtlCol="0">
                <a:spAutoFit/>
              </a:bodyPr>
              <a:lstStyle/>
              <a:p>
                <a:pPr algn="r" rtl="1"/>
                <a:r>
                  <a:rPr lang="fa-IR" sz="1600" b="1" dirty="0"/>
                  <a:t>3</a:t>
                </a:r>
                <a:r>
                  <a:rPr lang="en-US" sz="1600" b="1" dirty="0"/>
                  <a:t>. </a:t>
                </a:r>
                <a:r>
                  <a:rPr lang="en-US" sz="1600" b="1" dirty="0" err="1"/>
                  <a:t>ثابت‌کردن</a:t>
                </a:r>
                <a:r>
                  <a:rPr lang="en-US" sz="1600" b="1" dirty="0"/>
                  <a:t> </a:t>
                </a:r>
                <a:r>
                  <a:rPr lang="en-US" sz="1600" b="1" dirty="0" err="1"/>
                  <a:t>طول</a:t>
                </a:r>
                <a:r>
                  <a:rPr lang="en-US" sz="1600" b="1" dirty="0"/>
                  <a:t> </a:t>
                </a:r>
                <a:r>
                  <a:rPr lang="en-US" sz="1600" b="1" dirty="0" err="1"/>
                  <a:t>سیگنال</a:t>
                </a:r>
                <a:endParaRPr lang="en-US" sz="1600" b="1" dirty="0"/>
              </a:p>
              <a:p>
                <a:pPr algn="r" rtl="1"/>
                <a:r>
                  <a:rPr lang="en-US" sz="1600" dirty="0" err="1"/>
                  <a:t>مدت</a:t>
                </a:r>
                <a:r>
                  <a:rPr lang="en-US" sz="1600" dirty="0"/>
                  <a:t> </a:t>
                </a:r>
                <a:r>
                  <a:rPr lang="en-US" sz="1600" dirty="0" err="1"/>
                  <a:t>هدف</a:t>
                </a:r>
                <a:r>
                  <a:rPr lang="en-US" sz="1600" dirty="0"/>
                  <a:t> </a:t>
                </a:r>
                <a:r>
                  <a:rPr lang="en-US" sz="1600" dirty="0" err="1"/>
                  <a:t>در</a:t>
                </a:r>
                <a:r>
                  <a:rPr lang="en-US" sz="1600" dirty="0"/>
                  <a:t> </a:t>
                </a:r>
                <a:r>
                  <a:rPr lang="en-US" sz="1600" dirty="0" err="1"/>
                  <a:t>کد</a:t>
                </a:r>
                <a:r>
                  <a:rPr lang="en-US" sz="1600" dirty="0"/>
                  <a:t> ۱۰ </a:t>
                </a:r>
                <a:r>
                  <a:rPr lang="en-US" sz="1600" dirty="0" err="1"/>
                  <a:t>ثانیه</a:t>
                </a:r>
                <a:r>
                  <a:rPr lang="en-US" sz="1600" dirty="0"/>
                  <a:t> </a:t>
                </a:r>
                <a:r>
                  <a:rPr lang="en-US" sz="1600" dirty="0" err="1"/>
                  <a:t>است</a:t>
                </a:r>
                <a:r>
                  <a:rPr lang="en-US" sz="1600" dirty="0"/>
                  <a:t>. </a:t>
                </a:r>
                <a:r>
                  <a:rPr lang="en-US" sz="1600" dirty="0" err="1"/>
                  <a:t>ازاین‌رو</a:t>
                </a:r>
                <a:r>
                  <a:rPr lang="en-US" sz="1600" dirty="0"/>
                  <a:t>، </a:t>
                </a:r>
                <a:r>
                  <a:rPr lang="en-US" sz="1600" dirty="0" err="1"/>
                  <a:t>تعداد</a:t>
                </a:r>
                <a:r>
                  <a:rPr lang="en-US" sz="1600" dirty="0"/>
                  <a:t> </a:t>
                </a:r>
                <a:r>
                  <a:rPr lang="en-US" sz="1600" dirty="0" err="1"/>
                  <a:t>نمونهٔ</a:t>
                </a:r>
                <a:r>
                  <a:rPr lang="en-US" sz="1600" dirty="0"/>
                  <a:t> </a:t>
                </a:r>
                <a:r>
                  <a:rPr lang="en-US" sz="1600" dirty="0" err="1"/>
                  <a:t>مورد</a:t>
                </a:r>
                <a:r>
                  <a:rPr lang="en-US" sz="1600" dirty="0"/>
                  <a:t> </a:t>
                </a:r>
                <a:r>
                  <a:rPr lang="en-US" sz="1600" dirty="0" err="1"/>
                  <a:t>انتظار</a:t>
                </a:r>
                <a:r>
                  <a:rPr lang="en-US" sz="1600" dirty="0"/>
                  <a:t> </a:t>
                </a:r>
                <a:r>
                  <a:rPr lang="en-US" sz="1600" dirty="0" err="1"/>
                  <a:t>برابر</a:t>
                </a:r>
                <a:r>
                  <a:rPr lang="en-US" sz="1600" dirty="0"/>
                  <a:t> </a:t>
                </a:r>
                <a:r>
                  <a:rPr lang="en-US" sz="1600" dirty="0" err="1"/>
                  <a:t>است</a:t>
                </a:r>
                <a:r>
                  <a:rPr lang="en-US" sz="1600" dirty="0"/>
                  <a:t> </a:t>
                </a:r>
                <a:r>
                  <a:rPr lang="en-US" sz="1600" dirty="0" err="1"/>
                  <a:t>با</a:t>
                </a:r>
                <a:endParaRPr lang="en-US" sz="1600" dirty="0"/>
              </a:p>
              <a:p>
                <a:pPr algn="r" rtl="1"/>
                <a14:m>
                  <m:oMathPara xmlns:m="http://schemas.openxmlformats.org/officeDocument/2006/math">
                    <m:oMathParaPr>
                      <m:jc m:val="centerGroup"/>
                    </m:oMathParaPr>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𝑁</m:t>
                          </m:r>
                        </m:e>
                        <m:sub>
                          <m:r>
                            <m:rPr>
                              <m:sty m:val="p"/>
                            </m:rPr>
                            <a:rPr lang="en-US" sz="1600">
                              <a:latin typeface="Cambria Math" panose="02040503050406030204" pitchFamily="18" charset="0"/>
                            </a:rPr>
                            <m:t>target</m:t>
                          </m:r>
                        </m:sub>
                      </m:sSub>
                      <m:r>
                        <a:rPr lang="en-US" sz="160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𝑓</m:t>
                          </m:r>
                        </m:e>
                        <m:sub>
                          <m:r>
                            <a:rPr lang="en-US" sz="1600" i="1">
                              <a:latin typeface="Cambria Math" panose="02040503050406030204" pitchFamily="18" charset="0"/>
                            </a:rPr>
                            <m:t>𝑠</m:t>
                          </m:r>
                        </m:sub>
                      </m:sSub>
                      <m:r>
                        <a:rPr lang="en-US" sz="1600" i="1">
                          <a:latin typeface="Cambria Math" panose="02040503050406030204" pitchFamily="18" charset="0"/>
                        </a:rPr>
                        <m:t>𝑇</m:t>
                      </m:r>
                      <m:r>
                        <a:rPr lang="en-US" sz="1600">
                          <a:latin typeface="Cambria Math" panose="02040503050406030204" pitchFamily="18" charset="0"/>
                        </a:rPr>
                        <m:t>=</m:t>
                      </m:r>
                      <m:r>
                        <a:rPr lang="en-US" sz="1600">
                          <a:latin typeface="Cambria Math" panose="02040503050406030204" pitchFamily="18" charset="0"/>
                        </a:rPr>
                        <m:t>16000</m:t>
                      </m:r>
                      <m:r>
                        <a:rPr lang="en-US" sz="1600">
                          <a:latin typeface="Cambria Math" panose="02040503050406030204" pitchFamily="18" charset="0"/>
                        </a:rPr>
                        <m:t>×</m:t>
                      </m:r>
                      <m:r>
                        <a:rPr lang="en-US" sz="1600">
                          <a:latin typeface="Cambria Math" panose="02040503050406030204" pitchFamily="18" charset="0"/>
                        </a:rPr>
                        <m:t>10</m:t>
                      </m:r>
                      <m:r>
                        <a:rPr lang="en-US" sz="1600">
                          <a:latin typeface="Cambria Math" panose="02040503050406030204" pitchFamily="18" charset="0"/>
                        </a:rPr>
                        <m:t>=</m:t>
                      </m:r>
                      <m:r>
                        <a:rPr lang="en-US" sz="1600">
                          <a:latin typeface="Cambria Math" panose="02040503050406030204" pitchFamily="18" charset="0"/>
                        </a:rPr>
                        <m:t>160000</m:t>
                      </m:r>
                      <m:r>
                        <a:rPr lang="en-US" sz="1600">
                          <a:latin typeface="Cambria Math" panose="02040503050406030204" pitchFamily="18" charset="0"/>
                        </a:rPr>
                        <m:t>.</m:t>
                      </m:r>
                    </m:oMath>
                  </m:oMathPara>
                </a14:m>
                <a:endParaRPr lang="en-US" sz="1600" dirty="0"/>
              </a:p>
              <a:p>
                <a:pPr algn="r" rtl="1"/>
                <a:r>
                  <a:rPr lang="en-US" sz="1600" dirty="0" err="1"/>
                  <a:t>دو</a:t>
                </a:r>
                <a:r>
                  <a:rPr lang="en-US" sz="1600" dirty="0"/>
                  <a:t> </a:t>
                </a:r>
                <a:r>
                  <a:rPr lang="en-US" sz="1600" dirty="0" err="1"/>
                  <a:t>حالت</a:t>
                </a:r>
                <a:r>
                  <a:rPr lang="en-US" sz="1600" dirty="0"/>
                  <a:t> </a:t>
                </a:r>
                <a:r>
                  <a:rPr lang="en-US" sz="1600" dirty="0" err="1"/>
                  <a:t>وجود</a:t>
                </a:r>
                <a:r>
                  <a:rPr lang="en-US" sz="1600" dirty="0"/>
                  <a:t> </a:t>
                </a:r>
                <a:r>
                  <a:rPr lang="en-US" sz="1600" dirty="0" err="1"/>
                  <a:t>دارد</a:t>
                </a:r>
                <a:r>
                  <a:rPr lang="en-US" sz="1600" dirty="0"/>
                  <a:t>:</a:t>
                </a:r>
              </a:p>
              <a:p>
                <a:pPr algn="r" rtl="1"/>
                <a:r>
                  <a:rPr lang="en-US" sz="1600" dirty="0" err="1"/>
                  <a:t>اگر</a:t>
                </a:r>
                <a:r>
                  <a:rPr lang="en-US" sz="1600" dirty="0"/>
                  <a:t> </a:t>
                </a:r>
                <a14:m>
                  <m:oMath xmlns:m="http://schemas.openxmlformats.org/officeDocument/2006/math">
                    <m:r>
                      <a:rPr lang="en-US" sz="1600" i="1">
                        <a:latin typeface="Cambria Math" panose="02040503050406030204" pitchFamily="18" charset="0"/>
                      </a:rPr>
                      <m:t>𝑁</m:t>
                    </m:r>
                    <m:r>
                      <a:rPr lang="en-US" sz="1600">
                        <a:latin typeface="Cambria Math" panose="02040503050406030204" pitchFamily="18" charset="0"/>
                      </a:rPr>
                      <m:t>&gt;</m:t>
                    </m:r>
                    <m:sSub>
                      <m:sSubPr>
                        <m:ctrlPr>
                          <a:rPr lang="en-US" sz="1600" i="1">
                            <a:latin typeface="Cambria Math" panose="02040503050406030204" pitchFamily="18" charset="0"/>
                          </a:rPr>
                        </m:ctrlPr>
                      </m:sSubPr>
                      <m:e>
                        <m:r>
                          <a:rPr lang="en-US" sz="1600" i="1">
                            <a:latin typeface="Cambria Math" panose="02040503050406030204" pitchFamily="18" charset="0"/>
                          </a:rPr>
                          <m:t>𝑁</m:t>
                        </m:r>
                      </m:e>
                      <m:sub>
                        <m:r>
                          <m:rPr>
                            <m:sty m:val="p"/>
                          </m:rPr>
                          <a:rPr lang="en-US" sz="1600">
                            <a:latin typeface="Cambria Math" panose="02040503050406030204" pitchFamily="18" charset="0"/>
                          </a:rPr>
                          <m:t>target</m:t>
                        </m:r>
                      </m:sub>
                    </m:sSub>
                  </m:oMath>
                </a14:m>
                <a:r>
                  <a:rPr lang="en-US" sz="1600" dirty="0"/>
                  <a:t> </a:t>
                </a:r>
                <a:r>
                  <a:rPr lang="en-US" sz="1600" dirty="0" err="1"/>
                  <a:t>باشد</a:t>
                </a:r>
                <a:r>
                  <a:rPr lang="en-US" sz="1600" dirty="0"/>
                  <a:t>، </a:t>
                </a:r>
                <a:r>
                  <a:rPr lang="en-US" sz="1600" dirty="0" err="1"/>
                  <a:t>فقط</a:t>
                </a:r>
                <a:r>
                  <a:rPr lang="en-US" sz="1600" dirty="0"/>
                  <a:t> ۱۶۰۰۰۰ </a:t>
                </a:r>
                <a:r>
                  <a:rPr lang="en-US" sz="1600" dirty="0" err="1"/>
                  <a:t>نمونهٔ</a:t>
                </a:r>
                <a:r>
                  <a:rPr lang="en-US" sz="1600" dirty="0"/>
                  <a:t> </a:t>
                </a:r>
                <a:r>
                  <a:rPr lang="en-US" sz="1600" dirty="0" err="1"/>
                  <a:t>نخست</a:t>
                </a:r>
                <a:r>
                  <a:rPr lang="en-US" sz="1600" dirty="0"/>
                  <a:t> </a:t>
                </a:r>
                <a:r>
                  <a:rPr lang="en-US" sz="1600" dirty="0" err="1"/>
                  <a:t>حفظ</a:t>
                </a:r>
                <a:r>
                  <a:rPr lang="en-US" sz="1600" dirty="0"/>
                  <a:t> </a:t>
                </a:r>
                <a:r>
                  <a:rPr lang="en-US" sz="1600" dirty="0" err="1"/>
                  <a:t>می‌شود</a:t>
                </a:r>
                <a:r>
                  <a:rPr lang="en-US" sz="1600" dirty="0"/>
                  <a:t>.</a:t>
                </a:r>
              </a:p>
              <a:p>
                <a:pPr algn="r" rtl="1"/>
                <a:r>
                  <a:rPr lang="en-US" sz="1600" dirty="0" err="1"/>
                  <a:t>اگر</a:t>
                </a:r>
                <a:r>
                  <a:rPr lang="en-US" sz="1600" dirty="0"/>
                  <a:t> </a:t>
                </a:r>
                <a14:m>
                  <m:oMath xmlns:m="http://schemas.openxmlformats.org/officeDocument/2006/math">
                    <m:r>
                      <a:rPr lang="en-US" sz="1600" i="1">
                        <a:latin typeface="Cambria Math" panose="02040503050406030204" pitchFamily="18" charset="0"/>
                      </a:rPr>
                      <m:t>𝑁</m:t>
                    </m:r>
                    <m:r>
                      <a:rPr lang="en-US" sz="1600">
                        <a:latin typeface="Cambria Math" panose="02040503050406030204" pitchFamily="18" charset="0"/>
                      </a:rPr>
                      <m:t>&lt;</m:t>
                    </m:r>
                    <m:sSub>
                      <m:sSubPr>
                        <m:ctrlPr>
                          <a:rPr lang="en-US" sz="1600" i="1">
                            <a:latin typeface="Cambria Math" panose="02040503050406030204" pitchFamily="18" charset="0"/>
                          </a:rPr>
                        </m:ctrlPr>
                      </m:sSubPr>
                      <m:e>
                        <m:r>
                          <a:rPr lang="en-US" sz="1600" i="1">
                            <a:latin typeface="Cambria Math" panose="02040503050406030204" pitchFamily="18" charset="0"/>
                          </a:rPr>
                          <m:t>𝑁</m:t>
                        </m:r>
                      </m:e>
                      <m:sub>
                        <m:r>
                          <m:rPr>
                            <m:sty m:val="p"/>
                          </m:rPr>
                          <a:rPr lang="en-US" sz="1600">
                            <a:latin typeface="Cambria Math" panose="02040503050406030204" pitchFamily="18" charset="0"/>
                          </a:rPr>
                          <m:t>target</m:t>
                        </m:r>
                      </m:sub>
                    </m:sSub>
                  </m:oMath>
                </a14:m>
                <a:r>
                  <a:rPr lang="en-US" sz="1600" dirty="0"/>
                  <a:t> </a:t>
                </a:r>
                <a:r>
                  <a:rPr lang="en-US" sz="1600" dirty="0" err="1"/>
                  <a:t>باشد</a:t>
                </a:r>
                <a:r>
                  <a:rPr lang="en-US" sz="1600" dirty="0"/>
                  <a:t>، </a:t>
                </a:r>
                <a:r>
                  <a:rPr lang="en-US" sz="1600" dirty="0" err="1"/>
                  <a:t>سیگنال</a:t>
                </a:r>
                <a:r>
                  <a:rPr lang="en-US" sz="1600" dirty="0"/>
                  <a:t> </a:t>
                </a:r>
                <a:r>
                  <a:rPr lang="en-US" sz="1600" dirty="0" err="1"/>
                  <a:t>به‌صورت</a:t>
                </a:r>
                <a:r>
                  <a:rPr lang="en-US" sz="1600" dirty="0"/>
                  <a:t> </a:t>
                </a:r>
                <a:r>
                  <a:rPr lang="en-US" sz="1600" dirty="0" err="1"/>
                  <a:t>تناوبی</a:t>
                </a:r>
                <a:r>
                  <a:rPr lang="en-US" sz="1600" dirty="0"/>
                  <a:t> </a:t>
                </a:r>
                <a:r>
                  <a:rPr lang="en-US" sz="1600" dirty="0" err="1"/>
                  <a:t>تکرار</a:t>
                </a:r>
                <a:r>
                  <a:rPr lang="en-US" sz="1600" dirty="0"/>
                  <a:t> و </a:t>
                </a:r>
                <a:r>
                  <a:rPr lang="en-US" sz="1600" dirty="0" err="1"/>
                  <a:t>سپس</a:t>
                </a:r>
                <a:r>
                  <a:rPr lang="en-US" sz="1600" dirty="0"/>
                  <a:t> </a:t>
                </a:r>
                <a:r>
                  <a:rPr lang="en-US" sz="1600" dirty="0" err="1"/>
                  <a:t>در</a:t>
                </a:r>
                <a:r>
                  <a:rPr lang="en-US" sz="1600" dirty="0"/>
                  <a:t> </a:t>
                </a:r>
                <a:r>
                  <a:rPr lang="en-US" sz="1600" dirty="0" err="1"/>
                  <a:t>طول</a:t>
                </a:r>
                <a:r>
                  <a:rPr lang="en-US" sz="1600" dirty="0"/>
                  <a:t> </a:t>
                </a:r>
                <a:r>
                  <a:rPr lang="en-US" sz="1600" dirty="0" err="1"/>
                  <a:t>هدف</a:t>
                </a:r>
                <a:r>
                  <a:rPr lang="en-US" sz="1600" dirty="0"/>
                  <a:t> </a:t>
                </a:r>
                <a:r>
                  <a:rPr lang="en-US" sz="1600" dirty="0" err="1"/>
                  <a:t>بریده</a:t>
                </a:r>
                <a:r>
                  <a:rPr lang="en-US" sz="1600" dirty="0"/>
                  <a:t> </a:t>
                </a:r>
                <a:r>
                  <a:rPr lang="en-US" sz="1600" dirty="0" err="1"/>
                  <a:t>می‌شود</a:t>
                </a:r>
                <a:r>
                  <a:rPr lang="en-US" sz="1600" dirty="0"/>
                  <a:t>.</a:t>
                </a:r>
              </a:p>
              <a:p>
                <a:pPr algn="r" rtl="1"/>
                <a:r>
                  <a:rPr lang="en-US" sz="1600" dirty="0" err="1"/>
                  <a:t>به‌صورت</a:t>
                </a:r>
                <a:r>
                  <a:rPr lang="en-US" sz="1600" dirty="0"/>
                  <a:t> </a:t>
                </a:r>
                <a:r>
                  <a:rPr lang="en-US" sz="1600" dirty="0" err="1"/>
                  <a:t>ریاضی</a:t>
                </a:r>
                <a:r>
                  <a:rPr lang="en-US" sz="1600" dirty="0"/>
                  <a:t>، </a:t>
                </a:r>
                <a:r>
                  <a:rPr lang="en-US" sz="1600" dirty="0" err="1"/>
                  <a:t>برای</a:t>
                </a:r>
                <a:r>
                  <a:rPr lang="en-US" sz="1600" dirty="0"/>
                  <a:t> </a:t>
                </a:r>
                <a:r>
                  <a:rPr lang="en-US" sz="1600" dirty="0" err="1"/>
                  <a:t>سیگنال</a:t>
                </a:r>
                <a:r>
                  <a:rPr lang="en-US" sz="1600" dirty="0"/>
                  <a:t> </a:t>
                </a:r>
                <a:r>
                  <a:rPr lang="en-US" sz="1600" dirty="0" err="1"/>
                  <a:t>کوتاه</a:t>
                </a:r>
                <a:r>
                  <a:rPr lang="en-US" sz="1600" dirty="0"/>
                  <a:t> </a:t>
                </a:r>
                <a:r>
                  <a:rPr lang="en-US" sz="1600" dirty="0" err="1"/>
                  <a:t>می‌توان</a:t>
                </a:r>
                <a:r>
                  <a:rPr lang="en-US" sz="1600" dirty="0"/>
                  <a:t> </a:t>
                </a:r>
                <a:r>
                  <a:rPr lang="en-US" sz="1600" dirty="0" err="1"/>
                  <a:t>نوشت</a:t>
                </a:r>
                <a:r>
                  <a:rPr lang="en-US" sz="1600" dirty="0"/>
                  <a:t>:</a:t>
                </a:r>
              </a:p>
              <a:p>
                <a:pPr algn="r" rtl="1"/>
                <a14:m>
                  <m:oMathPara xmlns:m="http://schemas.openxmlformats.org/officeDocument/2006/math">
                    <m:oMathParaPr>
                      <m:jc m:val="centerGroup"/>
                    </m:oMathParaPr>
                    <m:oMath xmlns:m="http://schemas.openxmlformats.org/officeDocument/2006/math">
                      <m:acc>
                        <m:accPr>
                          <m:chr m:val="̃"/>
                          <m:ctrlPr>
                            <a:rPr lang="en-US" sz="1600" i="1">
                              <a:latin typeface="Cambria Math" panose="02040503050406030204" pitchFamily="18" charset="0"/>
                            </a:rPr>
                          </m:ctrlPr>
                        </m:accPr>
                        <m:e>
                          <m:r>
                            <a:rPr lang="en-US" sz="1600" i="1">
                              <a:latin typeface="Cambria Math" panose="02040503050406030204" pitchFamily="18" charset="0"/>
                            </a:rPr>
                            <m:t>𝑥</m:t>
                          </m:r>
                        </m:e>
                      </m:acc>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𝑛</m:t>
                          </m:r>
                        </m:e>
                      </m:d>
                      <m:r>
                        <a:rPr lang="en-US" sz="1600">
                          <a:latin typeface="Cambria Math" panose="02040503050406030204" pitchFamily="18" charset="0"/>
                        </a:rPr>
                        <m:t>=</m:t>
                      </m:r>
                      <m:r>
                        <a:rPr lang="en-US" sz="1600" i="1">
                          <a:latin typeface="Cambria Math" panose="02040503050406030204" pitchFamily="18" charset="0"/>
                        </a:rPr>
                        <m:t>𝑥</m:t>
                      </m:r>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𝑛</m:t>
                          </m:r>
                          <m:r>
                            <m:rPr>
                              <m:nor/>
                            </m:rPr>
                            <a:rPr lang="en-US" sz="1600" i="1"/>
                            <m:t> </m:t>
                          </m:r>
                          <m:r>
                            <m:rPr>
                              <m:sty m:val="p"/>
                            </m:rPr>
                            <a:rPr lang="en-US" sz="1600">
                              <a:latin typeface="Cambria Math" panose="02040503050406030204" pitchFamily="18" charset="0"/>
                            </a:rPr>
                            <m:t>mod</m:t>
                          </m:r>
                          <m:r>
                            <m:rPr>
                              <m:nor/>
                            </m:rPr>
                            <a:rPr lang="en-US" sz="1600" i="1"/>
                            <m:t> </m:t>
                          </m:r>
                          <m:r>
                            <a:rPr lang="en-US" sz="1600" i="1">
                              <a:latin typeface="Cambria Math" panose="02040503050406030204" pitchFamily="18" charset="0"/>
                            </a:rPr>
                            <m:t>𝑁</m:t>
                          </m:r>
                        </m:e>
                      </m:d>
                      <m:r>
                        <a:rPr lang="en-US" sz="1600">
                          <a:latin typeface="Cambria Math" panose="02040503050406030204" pitchFamily="18" charset="0"/>
                        </a:rPr>
                        <m:t>, </m:t>
                      </m:r>
                      <m:r>
                        <a:rPr lang="en-US" sz="1600">
                          <a:latin typeface="Cambria Math" panose="02040503050406030204" pitchFamily="18" charset="0"/>
                        </a:rPr>
                        <m:t>0</m:t>
                      </m:r>
                      <m:r>
                        <a:rPr lang="en-US" sz="1600">
                          <a:latin typeface="Cambria Math" panose="02040503050406030204" pitchFamily="18" charset="0"/>
                        </a:rPr>
                        <m:t>≤</m:t>
                      </m:r>
                      <m:r>
                        <a:rPr lang="en-US" sz="1600" i="1">
                          <a:latin typeface="Cambria Math" panose="02040503050406030204" pitchFamily="18" charset="0"/>
                        </a:rPr>
                        <m:t>𝑛</m:t>
                      </m:r>
                      <m:r>
                        <a:rPr lang="en-US" sz="1600">
                          <a:latin typeface="Cambria Math" panose="02040503050406030204" pitchFamily="18" charset="0"/>
                        </a:rPr>
                        <m:t>&lt;</m:t>
                      </m:r>
                      <m:sSub>
                        <m:sSubPr>
                          <m:ctrlPr>
                            <a:rPr lang="en-US" sz="1600" i="1">
                              <a:latin typeface="Cambria Math" panose="02040503050406030204" pitchFamily="18" charset="0"/>
                            </a:rPr>
                          </m:ctrlPr>
                        </m:sSubPr>
                        <m:e>
                          <m:r>
                            <a:rPr lang="en-US" sz="1600" i="1">
                              <a:latin typeface="Cambria Math" panose="02040503050406030204" pitchFamily="18" charset="0"/>
                            </a:rPr>
                            <m:t>𝑁</m:t>
                          </m:r>
                        </m:e>
                        <m:sub>
                          <m:r>
                            <m:rPr>
                              <m:sty m:val="p"/>
                            </m:rPr>
                            <a:rPr lang="en-US" sz="1600">
                              <a:latin typeface="Cambria Math" panose="02040503050406030204" pitchFamily="18" charset="0"/>
                            </a:rPr>
                            <m:t>target</m:t>
                          </m:r>
                        </m:sub>
                      </m:sSub>
                      <m:r>
                        <a:rPr lang="en-US" sz="1600">
                          <a:latin typeface="Cambria Math" panose="02040503050406030204" pitchFamily="18" charset="0"/>
                        </a:rPr>
                        <m:t>.</m:t>
                      </m:r>
                    </m:oMath>
                  </m:oMathPara>
                </a14:m>
                <a:endParaRPr lang="en-US" sz="1600" b="0" dirty="0"/>
              </a:p>
              <a:p>
                <a:pPr algn="r" rtl="1"/>
                <a:r>
                  <a:rPr lang="en-US" sz="1600" dirty="0" err="1"/>
                  <a:t>طول</a:t>
                </a:r>
                <a:r>
                  <a:rPr lang="en-US" sz="1600" dirty="0"/>
                  <a:t> </a:t>
                </a:r>
                <a:r>
                  <a:rPr lang="en-US" sz="1600" dirty="0" err="1"/>
                  <a:t>ثابت</a:t>
                </a:r>
                <a:r>
                  <a:rPr lang="en-US" sz="1600" dirty="0"/>
                  <a:t> </a:t>
                </a:r>
                <a:r>
                  <a:rPr lang="en-US" sz="1600" dirty="0" err="1"/>
                  <a:t>شرط</a:t>
                </a:r>
                <a:r>
                  <a:rPr lang="en-US" sz="1600" dirty="0"/>
                  <a:t> </a:t>
                </a:r>
                <a:r>
                  <a:rPr lang="en-US" sz="1600" dirty="0" err="1"/>
                  <a:t>لازم</a:t>
                </a:r>
                <a:r>
                  <a:rPr lang="en-US" sz="1600" dirty="0"/>
                  <a:t> </a:t>
                </a:r>
                <a:r>
                  <a:rPr lang="en-US" sz="1600" dirty="0" err="1"/>
                  <a:t>برای</a:t>
                </a:r>
                <a:r>
                  <a:rPr lang="en-US" sz="1600" dirty="0"/>
                  <a:t> </a:t>
                </a:r>
                <a:r>
                  <a:rPr lang="en-US" sz="1600" dirty="0" err="1"/>
                  <a:t>تولید</a:t>
                </a:r>
                <a:r>
                  <a:rPr lang="en-US" sz="1600" dirty="0"/>
                  <a:t> </a:t>
                </a:r>
                <a:r>
                  <a:rPr lang="en-US" sz="1600" dirty="0" err="1"/>
                  <a:t>تعداد</a:t>
                </a:r>
                <a:r>
                  <a:rPr lang="en-US" sz="1600" dirty="0"/>
                  <a:t> </a:t>
                </a:r>
                <a:r>
                  <a:rPr lang="en-US" sz="1600" dirty="0" err="1"/>
                  <a:t>قاب</a:t>
                </a:r>
                <a:r>
                  <a:rPr lang="en-US" sz="1600" dirty="0"/>
                  <a:t> </a:t>
                </a:r>
                <a:r>
                  <a:rPr lang="en-US" sz="1600" dirty="0" err="1"/>
                  <a:t>یکسان</a:t>
                </a:r>
                <a:r>
                  <a:rPr lang="en-US" sz="1600" dirty="0"/>
                  <a:t> و، </a:t>
                </a:r>
                <a:r>
                  <a:rPr lang="en-US" sz="1600" dirty="0" err="1"/>
                  <a:t>در</a:t>
                </a:r>
                <a:r>
                  <a:rPr lang="en-US" sz="1600" dirty="0"/>
                  <a:t> </a:t>
                </a:r>
                <a:r>
                  <a:rPr lang="en-US" sz="1600" dirty="0" err="1"/>
                  <a:t>نتیجه</a:t>
                </a:r>
                <a:r>
                  <a:rPr lang="en-US" sz="1600" dirty="0"/>
                  <a:t>، </a:t>
                </a:r>
                <a:r>
                  <a:rPr lang="en-US" sz="1600" dirty="0" err="1"/>
                  <a:t>بردار</a:t>
                </a:r>
                <a:r>
                  <a:rPr lang="en-US" sz="1600" dirty="0"/>
                  <a:t> </a:t>
                </a:r>
                <a:r>
                  <a:rPr lang="en-US" sz="1600" dirty="0" err="1"/>
                  <a:t>ویژگی</a:t>
                </a:r>
                <a:r>
                  <a:rPr lang="en-US" sz="1600" dirty="0"/>
                  <a:t> </a:t>
                </a:r>
                <a:r>
                  <a:rPr lang="en-US" sz="1600" dirty="0" err="1"/>
                  <a:t>هم‌اندازه</a:t>
                </a:r>
                <a:r>
                  <a:rPr lang="en-US" sz="1600" dirty="0"/>
                  <a:t> </a:t>
                </a:r>
                <a:r>
                  <a:rPr lang="en-US" sz="1600" dirty="0" err="1"/>
                  <a:t>برای</a:t>
                </a:r>
                <a:r>
                  <a:rPr lang="en-US" sz="1600" dirty="0"/>
                  <a:t> </a:t>
                </a:r>
                <a:r>
                  <a:rPr lang="en-US" sz="1600" dirty="0" err="1"/>
                  <a:t>تمام</a:t>
                </a:r>
                <a:r>
                  <a:rPr lang="en-US" sz="1600" dirty="0"/>
                  <a:t> </a:t>
                </a:r>
                <a:r>
                  <a:rPr lang="en-US" sz="1600" dirty="0" err="1"/>
                  <a:t>نمونه‌ها</a:t>
                </a:r>
                <a:r>
                  <a:rPr lang="en-US" sz="1600" dirty="0"/>
                  <a:t> </a:t>
                </a:r>
                <a:r>
                  <a:rPr lang="en-US" sz="1600" dirty="0" err="1"/>
                  <a:t>است</a:t>
                </a:r>
                <a:r>
                  <a:rPr lang="en-US" sz="1600" dirty="0"/>
                  <a:t>. </a:t>
                </a:r>
                <a:r>
                  <a:rPr lang="en-US" sz="1600" dirty="0" err="1"/>
                  <a:t>عیب</a:t>
                </a:r>
                <a:r>
                  <a:rPr lang="en-US" sz="1600" dirty="0"/>
                  <a:t> </a:t>
                </a:r>
                <a:r>
                  <a:rPr lang="en-US" sz="1600" dirty="0" err="1"/>
                  <a:t>روش</a:t>
                </a:r>
                <a:r>
                  <a:rPr lang="en-US" sz="1600" dirty="0"/>
                  <a:t> </a:t>
                </a:r>
                <a:r>
                  <a:rPr lang="en-US" sz="1600" dirty="0" err="1"/>
                  <a:t>تکرار</a:t>
                </a:r>
                <a:r>
                  <a:rPr lang="en-US" sz="1600" dirty="0"/>
                  <a:t> </a:t>
                </a:r>
                <a:r>
                  <a:rPr lang="en-US" sz="1600" dirty="0" err="1"/>
                  <a:t>این</a:t>
                </a:r>
                <a:r>
                  <a:rPr lang="en-US" sz="1600" dirty="0"/>
                  <a:t> </a:t>
                </a:r>
                <a:r>
                  <a:rPr lang="en-US" sz="1600" dirty="0" err="1"/>
                  <a:t>است</a:t>
                </a:r>
                <a:r>
                  <a:rPr lang="en-US" sz="1600" dirty="0"/>
                  <a:t> </a:t>
                </a:r>
                <a:r>
                  <a:rPr lang="en-US" sz="1600" dirty="0" err="1"/>
                  <a:t>که</a:t>
                </a:r>
                <a:r>
                  <a:rPr lang="en-US" sz="1600" dirty="0"/>
                  <a:t> </a:t>
                </a:r>
                <a:r>
                  <a:rPr lang="en-US" sz="1600" dirty="0" err="1"/>
                  <a:t>ممکن</a:t>
                </a:r>
                <a:r>
                  <a:rPr lang="en-US" sz="1600" dirty="0"/>
                  <a:t> </a:t>
                </a:r>
                <a:r>
                  <a:rPr lang="en-US" sz="1600" dirty="0" err="1"/>
                  <a:t>است</a:t>
                </a:r>
                <a:r>
                  <a:rPr lang="en-US" sz="1600" dirty="0"/>
                  <a:t> </a:t>
                </a:r>
                <a:r>
                  <a:rPr lang="en-US" sz="1600" dirty="0" err="1"/>
                  <a:t>در</a:t>
                </a:r>
                <a:r>
                  <a:rPr lang="en-US" sz="1600" dirty="0"/>
                  <a:t> </a:t>
                </a:r>
                <a:r>
                  <a:rPr lang="en-US" sz="1600" dirty="0" err="1"/>
                  <a:t>محل</a:t>
                </a:r>
                <a:r>
                  <a:rPr lang="en-US" sz="1600" dirty="0"/>
                  <a:t> </a:t>
                </a:r>
                <a:r>
                  <a:rPr lang="en-US" sz="1600" dirty="0" err="1"/>
                  <a:t>اتصال</a:t>
                </a:r>
                <a:r>
                  <a:rPr lang="en-US" sz="1600" dirty="0"/>
                  <a:t> </a:t>
                </a:r>
                <a:r>
                  <a:rPr lang="en-US" sz="1600" dirty="0" err="1"/>
                  <a:t>دو</a:t>
                </a:r>
                <a:r>
                  <a:rPr lang="en-US" sz="1600" dirty="0"/>
                  <a:t> </a:t>
                </a:r>
                <a:r>
                  <a:rPr lang="en-US" sz="1600" dirty="0" err="1"/>
                  <a:t>نسخه</a:t>
                </a:r>
                <a:r>
                  <a:rPr lang="en-US" sz="1600" dirty="0"/>
                  <a:t> </a:t>
                </a:r>
                <a:r>
                  <a:rPr lang="en-US" sz="1600" dirty="0" err="1"/>
                  <a:t>ناپیوستگی</a:t>
                </a:r>
                <a:r>
                  <a:rPr lang="en-US" sz="1600" dirty="0"/>
                  <a:t> و </a:t>
                </a:r>
                <a:r>
                  <a:rPr lang="en-US" sz="1600" dirty="0" err="1"/>
                  <a:t>تناوب</a:t>
                </a:r>
                <a:r>
                  <a:rPr lang="en-US" sz="1600" dirty="0"/>
                  <a:t> </a:t>
                </a:r>
                <a:r>
                  <a:rPr lang="en-US" sz="1600" dirty="0" err="1"/>
                  <a:t>مصنوعی</a:t>
                </a:r>
                <a:r>
                  <a:rPr lang="en-US" sz="1600" dirty="0"/>
                  <a:t> </a:t>
                </a:r>
                <a:r>
                  <a:rPr lang="en-US" sz="1600" dirty="0" err="1"/>
                  <a:t>ایجاد</a:t>
                </a:r>
                <a:r>
                  <a:rPr lang="en-US" sz="1600" dirty="0"/>
                  <a:t> </a:t>
                </a:r>
                <a:r>
                  <a:rPr lang="en-US" sz="1600" dirty="0" err="1"/>
                  <a:t>کند</a:t>
                </a:r>
                <a:r>
                  <a:rPr lang="en-US" sz="1600" dirty="0"/>
                  <a:t>. </a:t>
                </a:r>
                <a:r>
                  <a:rPr lang="en-US" sz="1600" dirty="0" err="1"/>
                  <a:t>صفرگذاری</a:t>
                </a:r>
                <a:r>
                  <a:rPr lang="en-US" sz="1600" dirty="0"/>
                  <a:t>، </a:t>
                </a:r>
                <a:r>
                  <a:rPr lang="en-US" sz="1600" dirty="0" err="1"/>
                  <a:t>بازتاب</a:t>
                </a:r>
                <a:r>
                  <a:rPr lang="en-US" sz="1600" dirty="0"/>
                  <a:t> </a:t>
                </a:r>
                <a:r>
                  <a:rPr lang="en-US" sz="1600" dirty="0" err="1"/>
                  <a:t>سیگنال</a:t>
                </a:r>
                <a:r>
                  <a:rPr lang="en-US" sz="1600" dirty="0"/>
                  <a:t> </a:t>
                </a:r>
                <a:r>
                  <a:rPr lang="en-US" sz="1600" dirty="0" err="1"/>
                  <a:t>یا</a:t>
                </a:r>
                <a:r>
                  <a:rPr lang="en-US" sz="1600" dirty="0"/>
                  <a:t> </a:t>
                </a:r>
                <a:r>
                  <a:rPr lang="en-US" sz="1600" dirty="0" err="1"/>
                  <a:t>انتخاب</a:t>
                </a:r>
                <a:r>
                  <a:rPr lang="en-US" sz="1600" dirty="0"/>
                  <a:t> </a:t>
                </a:r>
                <a:r>
                  <a:rPr lang="en-US" sz="1600" dirty="0" err="1"/>
                  <a:t>قطعه‌ای</a:t>
                </a:r>
                <a:r>
                  <a:rPr lang="en-US" sz="1600" dirty="0"/>
                  <a:t> </a:t>
                </a:r>
                <a:r>
                  <a:rPr lang="en-US" sz="1600" dirty="0" err="1"/>
                  <a:t>ثابت</a:t>
                </a:r>
                <a:r>
                  <a:rPr lang="en-US" sz="1600" dirty="0"/>
                  <a:t> </a:t>
                </a:r>
                <a:r>
                  <a:rPr lang="en-US" sz="1600" dirty="0" err="1"/>
                  <a:t>از</a:t>
                </a:r>
                <a:r>
                  <a:rPr lang="en-US" sz="1600" dirty="0"/>
                  <a:t> </a:t>
                </a:r>
                <a:r>
                  <a:rPr lang="en-US" sz="1600" dirty="0" err="1"/>
                  <a:t>یک</a:t>
                </a:r>
                <a:r>
                  <a:rPr lang="en-US" sz="1600" dirty="0"/>
                  <a:t> </a:t>
                </a:r>
                <a:r>
                  <a:rPr lang="en-US" sz="1600" dirty="0" err="1"/>
                  <a:t>ضبط</a:t>
                </a:r>
                <a:r>
                  <a:rPr lang="en-US" sz="1600" dirty="0"/>
                  <a:t> </a:t>
                </a:r>
                <a:r>
                  <a:rPr lang="en-US" sz="1600" dirty="0" err="1"/>
                  <a:t>بلندتر</a:t>
                </a:r>
                <a:r>
                  <a:rPr lang="en-US" sz="1600" dirty="0"/>
                  <a:t>، </a:t>
                </a:r>
                <a:r>
                  <a:rPr lang="en-US" sz="1600" dirty="0" err="1"/>
                  <a:t>گزینه‌های</a:t>
                </a:r>
                <a:r>
                  <a:rPr lang="en-US" sz="1600" dirty="0"/>
                  <a:t> </a:t>
                </a:r>
                <a:r>
                  <a:rPr lang="en-US" sz="1600" dirty="0" err="1"/>
                  <a:t>قابل</a:t>
                </a:r>
                <a:r>
                  <a:rPr lang="en-US" sz="1600" dirty="0"/>
                  <a:t> </a:t>
                </a:r>
                <a:r>
                  <a:rPr lang="en-US" sz="1600" dirty="0" err="1"/>
                  <a:t>بررسی</a:t>
                </a:r>
                <a:r>
                  <a:rPr lang="en-US" sz="1600" dirty="0"/>
                  <a:t> </a:t>
                </a:r>
                <a:r>
                  <a:rPr lang="en-US" sz="1600" dirty="0" err="1"/>
                  <a:t>در</a:t>
                </a:r>
                <a:r>
                  <a:rPr lang="en-US" sz="1600" dirty="0"/>
                  <a:t> </a:t>
                </a:r>
                <a:r>
                  <a:rPr lang="en-US" sz="1600" dirty="0" err="1"/>
                  <a:t>نسخه‌های</a:t>
                </a:r>
                <a:r>
                  <a:rPr lang="en-US" sz="1600" dirty="0"/>
                  <a:t> </a:t>
                </a:r>
                <a:r>
                  <a:rPr lang="en-US" sz="1600" dirty="0" err="1"/>
                  <a:t>آینده‌اند</a:t>
                </a:r>
                <a:r>
                  <a:rPr lang="en-US" sz="1600" dirty="0"/>
                  <a:t>.</a:t>
                </a:r>
                <a:endParaRPr lang="fa-IR" sz="1600" dirty="0"/>
              </a:p>
              <a:p>
                <a:pPr algn="r" rtl="1"/>
                <a:r>
                  <a:rPr lang="fa-IR" b="1" dirty="0"/>
                  <a:t>4</a:t>
                </a:r>
                <a:r>
                  <a:rPr lang="en-US" sz="1600" b="1" dirty="0"/>
                  <a:t>. </a:t>
                </a:r>
                <a:r>
                  <a:rPr lang="en-US" sz="1600" b="1" dirty="0" err="1"/>
                  <a:t>داده‌افزایی</a:t>
                </a:r>
                <a:endParaRPr lang="en-US" sz="1600" b="1" dirty="0"/>
              </a:p>
              <a:p>
                <a:pPr algn="r" rtl="1"/>
                <a:r>
                  <a:rPr lang="en-US" sz="1600" dirty="0" err="1"/>
                  <a:t>برای</a:t>
                </a:r>
                <a:r>
                  <a:rPr lang="en-US" sz="1600" dirty="0"/>
                  <a:t> </a:t>
                </a:r>
                <a:r>
                  <a:rPr lang="en-US" sz="1600" dirty="0" err="1"/>
                  <a:t>هر</a:t>
                </a:r>
                <a:r>
                  <a:rPr lang="en-US" sz="1600" dirty="0"/>
                  <a:t> </a:t>
                </a:r>
                <a:r>
                  <a:rPr lang="en-US" sz="1600" dirty="0" err="1"/>
                  <a:t>ضبط</a:t>
                </a:r>
                <a:r>
                  <a:rPr lang="en-US" sz="1600" dirty="0"/>
                  <a:t> </a:t>
                </a:r>
                <a:r>
                  <a:rPr lang="en-US" sz="1600" dirty="0" err="1"/>
                  <a:t>اصلی</a:t>
                </a:r>
                <a:r>
                  <a:rPr lang="en-US" sz="1600" dirty="0"/>
                  <a:t>، </a:t>
                </a:r>
                <a:r>
                  <a:rPr lang="en-US" sz="1600" dirty="0" err="1"/>
                  <a:t>تابع</a:t>
                </a:r>
                <a:r>
                  <a:rPr lang="en-US" sz="1600" dirty="0"/>
                  <a:t> </a:t>
                </a:r>
                <a:r>
                  <a:rPr lang="en-US" sz="1600" dirty="0" err="1"/>
                  <a:t>generate_augmented_samples</a:t>
                </a:r>
                <a:r>
                  <a:rPr lang="en-US" sz="1600" dirty="0"/>
                  <a:t> </a:t>
                </a:r>
                <a:r>
                  <a:rPr lang="en-US" sz="1600" dirty="0" err="1"/>
                  <a:t>شانزده</a:t>
                </a:r>
                <a:r>
                  <a:rPr lang="en-US" sz="1600" dirty="0"/>
                  <a:t> </a:t>
                </a:r>
                <a:r>
                  <a:rPr lang="en-US" sz="1600" dirty="0" err="1"/>
                  <a:t>نمونه</a:t>
                </a:r>
                <a:r>
                  <a:rPr lang="en-US" sz="1600" dirty="0"/>
                  <a:t> </a:t>
                </a:r>
                <a:r>
                  <a:rPr lang="en-US" sz="1600" dirty="0" err="1"/>
                  <a:t>تولید</a:t>
                </a:r>
                <a:r>
                  <a:rPr lang="en-US" sz="1600" dirty="0"/>
                  <a:t> </a:t>
                </a:r>
                <a:r>
                  <a:rPr lang="en-US" sz="1600" dirty="0" err="1"/>
                  <a:t>می‌کند</a:t>
                </a:r>
                <a:r>
                  <a:rPr lang="en-US" sz="1600" dirty="0"/>
                  <a:t>: </a:t>
                </a:r>
                <a:r>
                  <a:rPr lang="en-US" sz="1600" dirty="0" err="1"/>
                  <a:t>یک</a:t>
                </a:r>
                <a:r>
                  <a:rPr lang="en-US" sz="1600" dirty="0"/>
                  <a:t> </a:t>
                </a:r>
                <a:r>
                  <a:rPr lang="en-US" sz="1600" dirty="0" err="1"/>
                  <a:t>نمونهٔ</a:t>
                </a:r>
                <a:r>
                  <a:rPr lang="en-US" sz="1600" dirty="0"/>
                  <a:t> </a:t>
                </a:r>
                <a:r>
                  <a:rPr lang="en-US" sz="1600" dirty="0" err="1"/>
                  <a:t>اصلی</a:t>
                </a:r>
                <a:r>
                  <a:rPr lang="en-US" sz="1600" dirty="0"/>
                  <a:t>، </a:t>
                </a:r>
                <a:r>
                  <a:rPr lang="en-US" sz="1600" dirty="0" err="1"/>
                  <a:t>پنج</a:t>
                </a:r>
                <a:r>
                  <a:rPr lang="en-US" sz="1600" dirty="0"/>
                  <a:t> </a:t>
                </a:r>
                <a:r>
                  <a:rPr lang="en-US" sz="1600" dirty="0" err="1"/>
                  <a:t>نمونهٔ</a:t>
                </a:r>
                <a:r>
                  <a:rPr lang="en-US" sz="1600" dirty="0"/>
                  <a:t> </a:t>
                </a:r>
                <a:r>
                  <a:rPr lang="en-US" sz="1600" dirty="0" err="1"/>
                  <a:t>نویزی</a:t>
                </a:r>
                <a:r>
                  <a:rPr lang="en-US" sz="1600" dirty="0"/>
                  <a:t>، </a:t>
                </a:r>
                <a:r>
                  <a:rPr lang="en-US" sz="1600" dirty="0" err="1"/>
                  <a:t>پنج</a:t>
                </a:r>
                <a:r>
                  <a:rPr lang="en-US" sz="1600" dirty="0"/>
                  <a:t> </a:t>
                </a:r>
                <a:r>
                  <a:rPr lang="en-US" sz="1600" dirty="0" err="1"/>
                  <a:t>نمونهٔ</a:t>
                </a:r>
                <a:r>
                  <a:rPr lang="en-US" sz="1600" dirty="0"/>
                  <a:t> </a:t>
                </a:r>
                <a:r>
                  <a:rPr lang="en-US" sz="1600" dirty="0" err="1"/>
                  <a:t>انتقال‌یافته</a:t>
                </a:r>
                <a:r>
                  <a:rPr lang="en-US" sz="1600" dirty="0"/>
                  <a:t> و </a:t>
                </a:r>
                <a:r>
                  <a:rPr lang="en-US" sz="1600" dirty="0" err="1"/>
                  <a:t>پنج</a:t>
                </a:r>
                <a:r>
                  <a:rPr lang="en-US" sz="1600" dirty="0"/>
                  <a:t> </a:t>
                </a:r>
                <a:r>
                  <a:rPr lang="en-US" sz="1600" dirty="0" err="1"/>
                  <a:t>نمونه</a:t>
                </a:r>
                <a:r>
                  <a:rPr lang="en-US" sz="1600" dirty="0"/>
                  <a:t> </a:t>
                </a:r>
                <a:r>
                  <a:rPr lang="en-US" sz="1600" dirty="0" err="1"/>
                  <a:t>با</a:t>
                </a:r>
                <a:r>
                  <a:rPr lang="en-US" sz="1600" dirty="0"/>
                  <a:t> </a:t>
                </a:r>
                <a:r>
                  <a:rPr lang="en-US" sz="1600" dirty="0" err="1"/>
                  <a:t>حجم</a:t>
                </a:r>
                <a:r>
                  <a:rPr lang="en-US" sz="1600" dirty="0"/>
                  <a:t> </a:t>
                </a:r>
                <a:r>
                  <a:rPr lang="en-US" sz="1600" dirty="0" err="1"/>
                  <a:t>تغییریافته</a:t>
                </a:r>
                <a:r>
                  <a:rPr lang="en-US" sz="1600" dirty="0"/>
                  <a:t>.</a:t>
                </a:r>
              </a:p>
              <a:p>
                <a:pPr algn="r" rtl="1"/>
                <a:r>
                  <a:rPr lang="fa-IR" sz="1600" b="1" dirty="0"/>
                  <a:t>ا</a:t>
                </a:r>
                <a:r>
                  <a:rPr lang="en-US" sz="1600" b="1" dirty="0" err="1"/>
                  <a:t>فزودن</a:t>
                </a:r>
                <a:r>
                  <a:rPr lang="en-US" sz="1600" b="1" dirty="0"/>
                  <a:t> </a:t>
                </a:r>
                <a:r>
                  <a:rPr lang="en-US" sz="1600" b="1" dirty="0" err="1"/>
                  <a:t>نویز</a:t>
                </a:r>
                <a:r>
                  <a:rPr lang="en-US" sz="1600" b="1" dirty="0"/>
                  <a:t> </a:t>
                </a:r>
                <a:r>
                  <a:rPr lang="en-US" sz="1600" b="1" dirty="0" err="1"/>
                  <a:t>سفید</a:t>
                </a:r>
                <a:r>
                  <a:rPr lang="en-US" sz="1600" b="1" dirty="0"/>
                  <a:t> </a:t>
                </a:r>
                <a:r>
                  <a:rPr lang="en-US" sz="1600" b="1" dirty="0" err="1"/>
                  <a:t>گاوسی</a:t>
                </a:r>
                <a:endParaRPr lang="en-US" sz="1600" b="1" dirty="0"/>
              </a:p>
              <a:p>
                <a:pPr algn="r" rtl="1"/>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𝑦</m:t>
                      </m:r>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𝑛</m:t>
                          </m:r>
                        </m:e>
                      </m:d>
                      <m:r>
                        <a:rPr lang="en-US" sz="1600">
                          <a:latin typeface="Cambria Math" panose="02040503050406030204" pitchFamily="18" charset="0"/>
                        </a:rPr>
                        <m:t>=</m:t>
                      </m:r>
                      <m:r>
                        <a:rPr lang="en-US" sz="1600" i="1">
                          <a:latin typeface="Cambria Math" panose="02040503050406030204" pitchFamily="18" charset="0"/>
                        </a:rPr>
                        <m:t>𝑥</m:t>
                      </m:r>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𝑛</m:t>
                          </m:r>
                        </m:e>
                      </m:d>
                      <m:r>
                        <a:rPr lang="en-US" sz="1600">
                          <a:latin typeface="Cambria Math" panose="02040503050406030204" pitchFamily="18" charset="0"/>
                        </a:rPr>
                        <m:t>+</m:t>
                      </m:r>
                      <m:r>
                        <a:rPr lang="en-US" sz="1600" i="1">
                          <a:latin typeface="Cambria Math" panose="02040503050406030204" pitchFamily="18" charset="0"/>
                        </a:rPr>
                        <m:t>𝛼</m:t>
                      </m:r>
                      <m:r>
                        <a:rPr lang="en-US" sz="1600" i="1">
                          <a:latin typeface="Cambria Math" panose="02040503050406030204" pitchFamily="18" charset="0"/>
                        </a:rPr>
                        <m:t>𝑤</m:t>
                      </m:r>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𝑛</m:t>
                          </m:r>
                        </m:e>
                      </m:d>
                      <m:r>
                        <a:rPr lang="en-US" sz="1600">
                          <a:latin typeface="Cambria Math" panose="02040503050406030204" pitchFamily="18" charset="0"/>
                        </a:rPr>
                        <m:t>, </m:t>
                      </m:r>
                      <m:r>
                        <a:rPr lang="en-US" sz="1600" i="1">
                          <a:latin typeface="Cambria Math" panose="02040503050406030204" pitchFamily="18" charset="0"/>
                        </a:rPr>
                        <m:t>𝑤</m:t>
                      </m:r>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𝑛</m:t>
                          </m:r>
                        </m:e>
                      </m:d>
                      <m:r>
                        <a:rPr lang="en-US" sz="1600">
                          <a:latin typeface="Cambria Math" panose="02040503050406030204" pitchFamily="18" charset="0"/>
                        </a:rPr>
                        <m:t>∼</m:t>
                      </m:r>
                      <m:r>
                        <a:rPr lang="en-US" sz="1600">
                          <a:latin typeface="Cambria Math" panose="02040503050406030204" pitchFamily="18" charset="0"/>
                        </a:rPr>
                        <m:t>𝒩</m:t>
                      </m:r>
                      <m:d>
                        <m:dPr>
                          <m:sepChr m:val=","/>
                          <m:ctrlPr>
                            <a:rPr lang="en-US" sz="1600" i="1">
                              <a:latin typeface="Cambria Math" panose="02040503050406030204" pitchFamily="18" charset="0"/>
                            </a:rPr>
                          </m:ctrlPr>
                        </m:dPr>
                        <m:e>
                          <m:r>
                            <a:rPr lang="en-US" sz="1600">
                              <a:latin typeface="Cambria Math" panose="02040503050406030204" pitchFamily="18" charset="0"/>
                            </a:rPr>
                            <m:t>0</m:t>
                          </m:r>
                        </m:e>
                        <m:e>
                          <m:r>
                            <a:rPr lang="en-US" sz="1600">
                              <a:latin typeface="Cambria Math" panose="02040503050406030204" pitchFamily="18" charset="0"/>
                            </a:rPr>
                            <m:t>1</m:t>
                          </m:r>
                        </m:e>
                      </m:d>
                      <m:r>
                        <a:rPr lang="en-US" sz="1600">
                          <a:latin typeface="Cambria Math" panose="02040503050406030204" pitchFamily="18" charset="0"/>
                        </a:rPr>
                        <m:t>,</m:t>
                      </m:r>
                    </m:oMath>
                  </m:oMathPara>
                </a14:m>
                <a:endParaRPr lang="en-US" sz="1600" dirty="0"/>
              </a:p>
              <a:p>
                <a:pPr algn="r" rtl="1"/>
                <a:r>
                  <a:rPr lang="en-US" sz="1600" dirty="0" err="1"/>
                  <a:t>که</a:t>
                </a:r>
                <a:r>
                  <a:rPr lang="en-US" sz="1600" dirty="0"/>
                  <a:t> </a:t>
                </a:r>
                <a14:m>
                  <m:oMath xmlns:m="http://schemas.openxmlformats.org/officeDocument/2006/math">
                    <m:r>
                      <a:rPr lang="en-US" sz="1600" i="1">
                        <a:latin typeface="Cambria Math" panose="02040503050406030204" pitchFamily="18" charset="0"/>
                      </a:rPr>
                      <m:t>𝛼</m:t>
                    </m:r>
                  </m:oMath>
                </a14:m>
                <a:r>
                  <a:rPr lang="en-US" sz="1600" dirty="0"/>
                  <a:t> </a:t>
                </a:r>
                <a:r>
                  <a:rPr lang="en-US" sz="1600" dirty="0" err="1"/>
                  <a:t>برای</a:t>
                </a:r>
                <a:r>
                  <a:rPr lang="en-US" sz="1600" dirty="0"/>
                  <a:t> </a:t>
                </a:r>
                <a:r>
                  <a:rPr lang="en-US" sz="1600" dirty="0" err="1"/>
                  <a:t>هر</a:t>
                </a:r>
                <a:r>
                  <a:rPr lang="en-US" sz="1600" dirty="0"/>
                  <a:t> </a:t>
                </a:r>
                <a:r>
                  <a:rPr lang="en-US" sz="1600" dirty="0" err="1"/>
                  <a:t>نسخه</a:t>
                </a:r>
                <a:r>
                  <a:rPr lang="en-US" sz="1600" dirty="0"/>
                  <a:t> </a:t>
                </a:r>
                <a:r>
                  <a:rPr lang="en-US" sz="1600" dirty="0" err="1"/>
                  <a:t>به‌طور</a:t>
                </a:r>
                <a:r>
                  <a:rPr lang="en-US" sz="1600" dirty="0"/>
                  <a:t> </a:t>
                </a:r>
                <a:r>
                  <a:rPr lang="en-US" sz="1600" dirty="0" err="1"/>
                  <a:t>تصادفی</a:t>
                </a:r>
                <a:r>
                  <a:rPr lang="en-US" sz="1600" dirty="0"/>
                  <a:t> </a:t>
                </a:r>
                <a:r>
                  <a:rPr lang="en-US" sz="1600" dirty="0" err="1"/>
                  <a:t>از</a:t>
                </a:r>
                <a:r>
                  <a:rPr lang="en-US" sz="1600" dirty="0"/>
                  <a:t> </a:t>
                </a:r>
                <a:r>
                  <a:rPr lang="en-US" sz="1600" dirty="0" err="1"/>
                  <a:t>بازهٔ</a:t>
                </a:r>
                <a:r>
                  <a:rPr lang="en-US" sz="1600" dirty="0"/>
                  <a:t> </a:t>
                </a:r>
                <a14:m>
                  <m:oMath xmlns:m="http://schemas.openxmlformats.org/officeDocument/2006/math">
                    <m:d>
                      <m:dPr>
                        <m:begChr m:val="["/>
                        <m:endChr m:val="]"/>
                        <m:sepChr m:val=","/>
                        <m:ctrlPr>
                          <a:rPr lang="en-US" sz="1600" i="1">
                            <a:latin typeface="Cambria Math" panose="02040503050406030204" pitchFamily="18" charset="0"/>
                          </a:rPr>
                        </m:ctrlPr>
                      </m:dPr>
                      <m:e>
                        <m:r>
                          <a:rPr lang="en-US" sz="1600">
                            <a:latin typeface="Cambria Math" panose="02040503050406030204" pitchFamily="18" charset="0"/>
                          </a:rPr>
                          <m:t>0</m:t>
                        </m:r>
                        <m:r>
                          <a:rPr lang="en-US" sz="1600">
                            <a:latin typeface="Cambria Math" panose="02040503050406030204" pitchFamily="18" charset="0"/>
                          </a:rPr>
                          <m:t>.</m:t>
                        </m:r>
                        <m:r>
                          <a:rPr lang="en-US" sz="1600">
                            <a:latin typeface="Cambria Math" panose="02040503050406030204" pitchFamily="18" charset="0"/>
                          </a:rPr>
                          <m:t>001</m:t>
                        </m:r>
                      </m:e>
                      <m:e>
                        <m:r>
                          <a:rPr lang="en-US" sz="1600">
                            <a:latin typeface="Cambria Math" panose="02040503050406030204" pitchFamily="18" charset="0"/>
                          </a:rPr>
                          <m:t>0</m:t>
                        </m:r>
                        <m:r>
                          <a:rPr lang="en-US" sz="1600">
                            <a:latin typeface="Cambria Math" panose="02040503050406030204" pitchFamily="18" charset="0"/>
                          </a:rPr>
                          <m:t>.</m:t>
                        </m:r>
                        <m:r>
                          <a:rPr lang="en-US" sz="1600">
                            <a:latin typeface="Cambria Math" panose="02040503050406030204" pitchFamily="18" charset="0"/>
                          </a:rPr>
                          <m:t>02</m:t>
                        </m:r>
                      </m:e>
                    </m:d>
                  </m:oMath>
                </a14:m>
                <a:r>
                  <a:rPr lang="en-US" sz="1600" dirty="0"/>
                  <a:t> </a:t>
                </a:r>
                <a:r>
                  <a:rPr lang="en-US" sz="1600" dirty="0" err="1"/>
                  <a:t>انتخاب</a:t>
                </a:r>
                <a:r>
                  <a:rPr lang="en-US" sz="1600" dirty="0"/>
                  <a:t> </a:t>
                </a:r>
                <a:r>
                  <a:rPr lang="en-US" sz="1600" dirty="0" err="1"/>
                  <a:t>می‌شود</a:t>
                </a:r>
                <a:r>
                  <a:rPr lang="en-US" sz="1600" dirty="0"/>
                  <a:t>. </a:t>
                </a:r>
                <a:r>
                  <a:rPr lang="en-US" sz="1600" dirty="0" err="1"/>
                  <a:t>این</a:t>
                </a:r>
                <a:r>
                  <a:rPr lang="en-US" sz="1600" dirty="0"/>
                  <a:t> </a:t>
                </a:r>
                <a:r>
                  <a:rPr lang="en-US" sz="1600" dirty="0" err="1"/>
                  <a:t>تبدیل</a:t>
                </a:r>
                <a:r>
                  <a:rPr lang="en-US" sz="1600" dirty="0"/>
                  <a:t> </a:t>
                </a:r>
                <a:r>
                  <a:rPr lang="en-US" sz="1600" dirty="0" err="1"/>
                  <a:t>مدل</a:t>
                </a:r>
                <a:r>
                  <a:rPr lang="en-US" sz="1600" dirty="0"/>
                  <a:t> </a:t>
                </a:r>
                <a:r>
                  <a:rPr lang="en-US" sz="1600" dirty="0" err="1"/>
                  <a:t>را</a:t>
                </a:r>
                <a:r>
                  <a:rPr lang="en-US" sz="1600" dirty="0"/>
                  <a:t> </a:t>
                </a:r>
                <a:r>
                  <a:rPr lang="en-US" sz="1600" dirty="0" err="1"/>
                  <a:t>در</a:t>
                </a:r>
                <a:r>
                  <a:rPr lang="en-US" sz="1600" dirty="0"/>
                  <a:t> </a:t>
                </a:r>
                <a:r>
                  <a:rPr lang="en-US" sz="1600" dirty="0" err="1"/>
                  <a:t>برابر</a:t>
                </a:r>
                <a:r>
                  <a:rPr lang="en-US" sz="1600" dirty="0"/>
                  <a:t> </a:t>
                </a:r>
                <a:r>
                  <a:rPr lang="en-US" sz="1600" dirty="0" err="1"/>
                  <a:t>نویز</a:t>
                </a:r>
                <a:r>
                  <a:rPr lang="en-US" sz="1600" dirty="0"/>
                  <a:t> </a:t>
                </a:r>
                <a:r>
                  <a:rPr lang="en-US" sz="1600" dirty="0" err="1"/>
                  <a:t>حسگر</a:t>
                </a:r>
                <a:r>
                  <a:rPr lang="en-US" sz="1600" dirty="0"/>
                  <a:t> و </a:t>
                </a:r>
                <a:r>
                  <a:rPr lang="en-US" sz="1600" dirty="0" err="1"/>
                  <a:t>محیط</a:t>
                </a:r>
                <a:r>
                  <a:rPr lang="en-US" sz="1600" dirty="0"/>
                  <a:t> </a:t>
                </a:r>
                <a:r>
                  <a:rPr lang="en-US" sz="1600" dirty="0" err="1"/>
                  <a:t>مقاوم‌تر</a:t>
                </a:r>
                <a:r>
                  <a:rPr lang="en-US" sz="1600" dirty="0"/>
                  <a:t> </a:t>
                </a:r>
                <a:r>
                  <a:rPr lang="en-US" sz="1600" dirty="0" err="1"/>
                  <a:t>می‌کند</a:t>
                </a:r>
                <a:r>
                  <a:rPr lang="en-US" sz="1600" dirty="0"/>
                  <a:t>.</a:t>
                </a:r>
              </a:p>
              <a:p>
                <a:pPr algn="r" rtl="1"/>
                <a:r>
                  <a:rPr lang="fa-IR" sz="1600" b="1" dirty="0"/>
                  <a:t>ا</a:t>
                </a:r>
                <a:r>
                  <a:rPr lang="en-US" sz="1600" b="1" dirty="0" err="1"/>
                  <a:t>نتقال</a:t>
                </a:r>
                <a:r>
                  <a:rPr lang="en-US" sz="1600" b="1" dirty="0"/>
                  <a:t> </a:t>
                </a:r>
                <a:r>
                  <a:rPr lang="en-US" sz="1600" b="1" dirty="0" err="1"/>
                  <a:t>زمانی</a:t>
                </a:r>
                <a:r>
                  <a:rPr lang="en-US" sz="1600" b="1" dirty="0"/>
                  <a:t> </a:t>
                </a:r>
                <a:r>
                  <a:rPr lang="en-US" sz="1600" b="1" dirty="0" err="1"/>
                  <a:t>دوری</a:t>
                </a:r>
                <a:endParaRPr lang="en-US" sz="1600" b="1" dirty="0"/>
              </a:p>
              <a:p>
                <a:pPr algn="r" rtl="1"/>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𝑦</m:t>
                      </m:r>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𝑛</m:t>
                          </m:r>
                        </m:e>
                      </m:d>
                      <m:r>
                        <a:rPr lang="en-US" sz="1600">
                          <a:latin typeface="Cambria Math" panose="02040503050406030204" pitchFamily="18" charset="0"/>
                        </a:rPr>
                        <m:t>=</m:t>
                      </m:r>
                      <m:r>
                        <a:rPr lang="en-US" sz="1600" i="1">
                          <a:latin typeface="Cambria Math" panose="02040503050406030204" pitchFamily="18" charset="0"/>
                        </a:rPr>
                        <m:t>𝑥</m:t>
                      </m:r>
                      <m:d>
                        <m:dPr>
                          <m:begChr m:val="["/>
                          <m:endChr m:val="]"/>
                          <m:ctrlPr>
                            <a:rPr lang="en-US" sz="1600" i="1">
                              <a:latin typeface="Cambria Math" panose="02040503050406030204" pitchFamily="18" charset="0"/>
                            </a:rPr>
                          </m:ctrlPr>
                        </m:dPr>
                        <m:e>
                          <m:d>
                            <m:dPr>
                              <m:ctrlPr>
                                <a:rPr lang="en-US" sz="1600" i="1">
                                  <a:latin typeface="Cambria Math" panose="02040503050406030204" pitchFamily="18" charset="0"/>
                                </a:rPr>
                              </m:ctrlPr>
                            </m:dPr>
                            <m:e>
                              <m:r>
                                <a:rPr lang="en-US" sz="1600" i="1">
                                  <a:latin typeface="Cambria Math" panose="02040503050406030204" pitchFamily="18" charset="0"/>
                                </a:rPr>
                                <m:t>𝑛</m:t>
                              </m:r>
                              <m:r>
                                <a:rPr lang="en-US" sz="1600">
                                  <a:latin typeface="Cambria Math" panose="02040503050406030204" pitchFamily="18" charset="0"/>
                                </a:rPr>
                                <m:t>−</m:t>
                              </m:r>
                              <m:r>
                                <a:rPr lang="en-US" sz="1600" i="1">
                                  <a:latin typeface="Cambria Math" panose="02040503050406030204" pitchFamily="18" charset="0"/>
                                </a:rPr>
                                <m:t>𝑘</m:t>
                              </m:r>
                            </m:e>
                          </m:d>
                          <m:r>
                            <m:rPr>
                              <m:nor/>
                            </m:rPr>
                            <a:rPr lang="en-US" sz="1600" i="1"/>
                            <m:t> </m:t>
                          </m:r>
                          <m:r>
                            <m:rPr>
                              <m:sty m:val="p"/>
                            </m:rPr>
                            <a:rPr lang="en-US" sz="1600">
                              <a:latin typeface="Cambria Math" panose="02040503050406030204" pitchFamily="18" charset="0"/>
                            </a:rPr>
                            <m:t>mod</m:t>
                          </m:r>
                          <m:r>
                            <m:rPr>
                              <m:nor/>
                            </m:rPr>
                            <a:rPr lang="en-US" sz="1600" i="1"/>
                            <m:t> </m:t>
                          </m:r>
                          <m:r>
                            <a:rPr lang="en-US" sz="1600" i="1">
                              <a:latin typeface="Cambria Math" panose="02040503050406030204" pitchFamily="18" charset="0"/>
                            </a:rPr>
                            <m:t>𝑁</m:t>
                          </m:r>
                        </m:e>
                      </m:d>
                      <m:r>
                        <a:rPr lang="en-US" sz="1600">
                          <a:latin typeface="Cambria Math" panose="02040503050406030204" pitchFamily="18" charset="0"/>
                        </a:rPr>
                        <m:t>.</m:t>
                      </m:r>
                    </m:oMath>
                  </m:oMathPara>
                </a14:m>
                <a:endParaRPr lang="en-US" sz="1600" b="0" dirty="0"/>
              </a:p>
              <a:p>
                <a:pPr algn="r" rtl="1"/>
                <a:r>
                  <a:rPr lang="en-US" sz="1600" dirty="0" err="1"/>
                  <a:t>مقدار</a:t>
                </a:r>
                <a:r>
                  <a:rPr lang="en-US" sz="1600" dirty="0"/>
                  <a:t> </a:t>
                </a:r>
                <a14:m>
                  <m:oMath xmlns:m="http://schemas.openxmlformats.org/officeDocument/2006/math">
                    <m:r>
                      <a:rPr lang="en-US" sz="1600" i="1">
                        <a:latin typeface="Cambria Math" panose="02040503050406030204" pitchFamily="18" charset="0"/>
                      </a:rPr>
                      <m:t>𝑘</m:t>
                    </m:r>
                  </m:oMath>
                </a14:m>
                <a:r>
                  <a:rPr lang="en-US" sz="1600" dirty="0"/>
                  <a:t> </a:t>
                </a:r>
                <a:r>
                  <a:rPr lang="en-US" sz="1600" dirty="0" err="1"/>
                  <a:t>تصادفی</a:t>
                </a:r>
                <a:r>
                  <a:rPr lang="en-US" sz="1600" dirty="0"/>
                  <a:t> </a:t>
                </a:r>
                <a:r>
                  <a:rPr lang="en-US" sz="1600" dirty="0" err="1"/>
                  <a:t>است</a:t>
                </a:r>
                <a:r>
                  <a:rPr lang="en-US" sz="1600" dirty="0"/>
                  <a:t> و </a:t>
                </a:r>
                <a:r>
                  <a:rPr lang="en-US" sz="1600" dirty="0" err="1"/>
                  <a:t>با</a:t>
                </a:r>
                <a:r>
                  <a:rPr lang="en-US" sz="1600" dirty="0"/>
                  <a:t> </a:t>
                </a:r>
                <a:r>
                  <a:rPr lang="en-US" sz="1600" dirty="0" err="1"/>
                  <a:t>np.roll</a:t>
                </a:r>
                <a:r>
                  <a:rPr lang="en-US" sz="1600" dirty="0"/>
                  <a:t> </a:t>
                </a:r>
                <a:r>
                  <a:rPr lang="en-US" sz="1600" dirty="0" err="1"/>
                  <a:t>اعمال</a:t>
                </a:r>
                <a:r>
                  <a:rPr lang="en-US" sz="1600" dirty="0"/>
                  <a:t> </a:t>
                </a:r>
                <a:r>
                  <a:rPr lang="en-US" sz="1600" dirty="0" err="1"/>
                  <a:t>می‌شود</a:t>
                </a:r>
                <a:r>
                  <a:rPr lang="en-US" sz="1600" dirty="0"/>
                  <a:t>. </a:t>
                </a:r>
                <a:r>
                  <a:rPr lang="en-US" sz="1600" dirty="0" err="1"/>
                  <a:t>هدف</a:t>
                </a:r>
                <a:r>
                  <a:rPr lang="en-US" sz="1600" dirty="0"/>
                  <a:t>، </a:t>
                </a:r>
                <a:r>
                  <a:rPr lang="en-US" sz="1600" dirty="0" err="1"/>
                  <a:t>کاهش</a:t>
                </a:r>
                <a:r>
                  <a:rPr lang="en-US" sz="1600" dirty="0"/>
                  <a:t> </a:t>
                </a:r>
                <a:r>
                  <a:rPr lang="en-US" sz="1600" dirty="0" err="1"/>
                  <a:t>وابستگی</a:t>
                </a:r>
                <a:r>
                  <a:rPr lang="en-US" sz="1600" dirty="0"/>
                  <a:t> </a:t>
                </a:r>
                <a:r>
                  <a:rPr lang="en-US" sz="1600" dirty="0" err="1"/>
                  <a:t>مدل</a:t>
                </a:r>
                <a:r>
                  <a:rPr lang="en-US" sz="1600" dirty="0"/>
                  <a:t> </a:t>
                </a:r>
                <a:r>
                  <a:rPr lang="en-US" sz="1600" dirty="0" err="1"/>
                  <a:t>به</a:t>
                </a:r>
                <a:r>
                  <a:rPr lang="en-US" sz="1600" dirty="0"/>
                  <a:t> </a:t>
                </a:r>
                <a:r>
                  <a:rPr lang="en-US" sz="1600" dirty="0" err="1"/>
                  <a:t>نقطهٔ</a:t>
                </a:r>
                <a:r>
                  <a:rPr lang="en-US" sz="1600" dirty="0"/>
                  <a:t> </a:t>
                </a:r>
                <a:r>
                  <a:rPr lang="en-US" sz="1600" dirty="0" err="1"/>
                  <a:t>شروع</a:t>
                </a:r>
                <a:r>
                  <a:rPr lang="en-US" sz="1600" dirty="0"/>
                  <a:t> </a:t>
                </a:r>
                <a:r>
                  <a:rPr lang="en-US" sz="1600" dirty="0" err="1"/>
                  <a:t>ضبط</a:t>
                </a:r>
                <a:r>
                  <a:rPr lang="en-US" sz="1600" dirty="0"/>
                  <a:t> </a:t>
                </a:r>
                <a:r>
                  <a:rPr lang="en-US" sz="1600" dirty="0" err="1"/>
                  <a:t>است</a:t>
                </a:r>
                <a:r>
                  <a:rPr lang="en-US" sz="1600" dirty="0"/>
                  <a:t>. </a:t>
                </a:r>
                <a:r>
                  <a:rPr lang="en-US" sz="1600" dirty="0" err="1"/>
                  <a:t>انتقال</a:t>
                </a:r>
                <a:r>
                  <a:rPr lang="en-US" sz="1600" dirty="0"/>
                  <a:t> </a:t>
                </a:r>
                <a:r>
                  <a:rPr lang="en-US" sz="1600" dirty="0" err="1"/>
                  <a:t>دوری</a:t>
                </a:r>
                <a:r>
                  <a:rPr lang="en-US" sz="1600" dirty="0"/>
                  <a:t> </a:t>
                </a:r>
                <a:r>
                  <a:rPr lang="en-US" sz="1600" dirty="0" err="1"/>
                  <a:t>ممکن</a:t>
                </a:r>
                <a:r>
                  <a:rPr lang="en-US" sz="1600" dirty="0"/>
                  <a:t> </a:t>
                </a:r>
                <a:r>
                  <a:rPr lang="en-US" sz="1600" dirty="0" err="1"/>
                  <a:t>است</a:t>
                </a:r>
                <a:r>
                  <a:rPr lang="en-US" sz="1600" dirty="0"/>
                  <a:t> </a:t>
                </a:r>
                <a:r>
                  <a:rPr lang="en-US" sz="1600" dirty="0" err="1"/>
                  <a:t>در</a:t>
                </a:r>
                <a:r>
                  <a:rPr lang="en-US" sz="1600" dirty="0"/>
                  <a:t> </a:t>
                </a:r>
                <a:r>
                  <a:rPr lang="en-US" sz="1600" dirty="0" err="1"/>
                  <a:t>مرز</a:t>
                </a:r>
                <a:r>
                  <a:rPr lang="en-US" sz="1600" dirty="0"/>
                  <a:t> </a:t>
                </a:r>
                <a:r>
                  <a:rPr lang="en-US" sz="1600" dirty="0" err="1"/>
                  <a:t>اتصال</a:t>
                </a:r>
                <a:r>
                  <a:rPr lang="en-US" sz="1600" dirty="0"/>
                  <a:t> </a:t>
                </a:r>
                <a:r>
                  <a:rPr lang="en-US" sz="1600" dirty="0" err="1"/>
                  <a:t>ناپیوستگی</a:t>
                </a:r>
                <a:r>
                  <a:rPr lang="en-US" sz="1600" dirty="0"/>
                  <a:t> </a:t>
                </a:r>
                <a:r>
                  <a:rPr lang="en-US" sz="1600" dirty="0" err="1"/>
                  <a:t>ایجاد</a:t>
                </a:r>
                <a:r>
                  <a:rPr lang="en-US" sz="1600" dirty="0"/>
                  <a:t> </a:t>
                </a:r>
                <a:r>
                  <a:rPr lang="en-US" sz="1600" dirty="0" err="1"/>
                  <a:t>کند</a:t>
                </a:r>
                <a:r>
                  <a:rPr lang="en-US" sz="1600" dirty="0"/>
                  <a:t>.</a:t>
                </a:r>
              </a:p>
              <a:p>
                <a:pPr algn="r" rtl="1"/>
                <a:r>
                  <a:rPr lang="en-US" sz="1600" b="1" dirty="0" err="1"/>
                  <a:t>تغییر</a:t>
                </a:r>
                <a:r>
                  <a:rPr lang="en-US" sz="1600" b="1" dirty="0"/>
                  <a:t> </a:t>
                </a:r>
                <a:r>
                  <a:rPr lang="en-US" sz="1600" b="1" dirty="0" err="1"/>
                  <a:t>بهره</a:t>
                </a:r>
                <a:r>
                  <a:rPr lang="en-US" sz="1600" b="1" dirty="0"/>
                  <a:t> </a:t>
                </a:r>
                <a:r>
                  <a:rPr lang="en-US" sz="1600" b="1" dirty="0" err="1"/>
                  <a:t>یا</a:t>
                </a:r>
                <a:r>
                  <a:rPr lang="en-US" sz="1600" b="1" dirty="0"/>
                  <a:t> </a:t>
                </a:r>
                <a:r>
                  <a:rPr lang="en-US" sz="1600" b="1" dirty="0" err="1"/>
                  <a:t>حجم</a:t>
                </a:r>
                <a:endParaRPr lang="en-US" sz="1600" b="1" dirty="0"/>
              </a:p>
              <a:p>
                <a:pPr algn="r" rtl="1"/>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𝑦</m:t>
                      </m:r>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𝑛</m:t>
                          </m:r>
                        </m:e>
                      </m:d>
                      <m:r>
                        <a:rPr lang="en-US" sz="1600">
                          <a:latin typeface="Cambria Math" panose="02040503050406030204" pitchFamily="18" charset="0"/>
                        </a:rPr>
                        <m:t>=</m:t>
                      </m:r>
                      <m:r>
                        <a:rPr lang="en-US" sz="1600" i="1">
                          <a:latin typeface="Cambria Math" panose="02040503050406030204" pitchFamily="18" charset="0"/>
                        </a:rPr>
                        <m:t>𝑎</m:t>
                      </m:r>
                      <m:r>
                        <m:rPr>
                          <m:nor/>
                        </m:rPr>
                        <a:rPr lang="en-US" sz="1600" i="1"/>
                        <m:t> </m:t>
                      </m:r>
                      <m:r>
                        <a:rPr lang="en-US" sz="1600" i="1">
                          <a:latin typeface="Cambria Math" panose="02040503050406030204" pitchFamily="18" charset="0"/>
                        </a:rPr>
                        <m:t>𝑥</m:t>
                      </m:r>
                      <m:d>
                        <m:dPr>
                          <m:begChr m:val="["/>
                          <m:endChr m:val="]"/>
                          <m:ctrlPr>
                            <a:rPr lang="en-US" sz="1600" i="1">
                              <a:latin typeface="Cambria Math" panose="02040503050406030204" pitchFamily="18" charset="0"/>
                            </a:rPr>
                          </m:ctrlPr>
                        </m:dPr>
                        <m:e>
                          <m:r>
                            <a:rPr lang="en-US" sz="1600" i="1">
                              <a:latin typeface="Cambria Math" panose="02040503050406030204" pitchFamily="18" charset="0"/>
                            </a:rPr>
                            <m:t>𝑛</m:t>
                          </m:r>
                        </m:e>
                      </m:d>
                      <m:r>
                        <a:rPr lang="en-US" sz="1600">
                          <a:latin typeface="Cambria Math" panose="02040503050406030204" pitchFamily="18" charset="0"/>
                        </a:rPr>
                        <m:t>, </m:t>
                      </m:r>
                      <m:r>
                        <a:rPr lang="en-US" sz="1600" i="1">
                          <a:latin typeface="Cambria Math" panose="02040503050406030204" pitchFamily="18" charset="0"/>
                        </a:rPr>
                        <m:t>𝑎</m:t>
                      </m:r>
                      <m:r>
                        <a:rPr lang="en-US" sz="1600">
                          <a:latin typeface="Cambria Math" panose="02040503050406030204" pitchFamily="18" charset="0"/>
                        </a:rPr>
                        <m:t>∼</m:t>
                      </m:r>
                      <m:r>
                        <a:rPr lang="en-US" sz="1600">
                          <a:latin typeface="Cambria Math" panose="02040503050406030204" pitchFamily="18" charset="0"/>
                        </a:rPr>
                        <m:t>𝒰</m:t>
                      </m:r>
                      <m:d>
                        <m:dPr>
                          <m:sepChr m:val=","/>
                          <m:ctrlPr>
                            <a:rPr lang="en-US" sz="1600" i="1">
                              <a:latin typeface="Cambria Math" panose="02040503050406030204" pitchFamily="18" charset="0"/>
                            </a:rPr>
                          </m:ctrlPr>
                        </m:dPr>
                        <m:e>
                          <m:r>
                            <a:rPr lang="en-US" sz="1600">
                              <a:latin typeface="Cambria Math" panose="02040503050406030204" pitchFamily="18" charset="0"/>
                            </a:rPr>
                            <m:t>0</m:t>
                          </m:r>
                          <m:r>
                            <a:rPr lang="en-US" sz="1600">
                              <a:latin typeface="Cambria Math" panose="02040503050406030204" pitchFamily="18" charset="0"/>
                            </a:rPr>
                            <m:t>.</m:t>
                          </m:r>
                          <m:r>
                            <a:rPr lang="en-US" sz="1600">
                              <a:latin typeface="Cambria Math" panose="02040503050406030204" pitchFamily="18" charset="0"/>
                            </a:rPr>
                            <m:t>7</m:t>
                          </m:r>
                        </m:e>
                        <m:e>
                          <m:r>
                            <a:rPr lang="en-US" sz="1600">
                              <a:latin typeface="Cambria Math" panose="02040503050406030204" pitchFamily="18" charset="0"/>
                            </a:rPr>
                            <m:t>1</m:t>
                          </m:r>
                          <m:r>
                            <a:rPr lang="en-US" sz="1600">
                              <a:latin typeface="Cambria Math" panose="02040503050406030204" pitchFamily="18" charset="0"/>
                            </a:rPr>
                            <m:t>.</m:t>
                          </m:r>
                          <m:r>
                            <a:rPr lang="en-US" sz="1600">
                              <a:latin typeface="Cambria Math" panose="02040503050406030204" pitchFamily="18" charset="0"/>
                            </a:rPr>
                            <m:t>3</m:t>
                          </m:r>
                        </m:e>
                      </m:d>
                      <m:r>
                        <a:rPr lang="en-US" sz="1600">
                          <a:latin typeface="Cambria Math" panose="02040503050406030204" pitchFamily="18" charset="0"/>
                        </a:rPr>
                        <m:t>.</m:t>
                      </m:r>
                    </m:oMath>
                  </m:oMathPara>
                </a14:m>
                <a:endParaRPr lang="en-US" sz="1600" b="0" dirty="0"/>
              </a:p>
              <a:p>
                <a:pPr algn="r" rtl="1"/>
                <a:r>
                  <a:rPr lang="en-US" sz="1600" dirty="0" err="1"/>
                  <a:t>فرکانس‌های</a:t>
                </a:r>
                <a:r>
                  <a:rPr lang="en-US" sz="1600" dirty="0"/>
                  <a:t> </a:t>
                </a:r>
                <a:r>
                  <a:rPr lang="en-US" sz="1600" dirty="0" err="1"/>
                  <a:t>سیگنال</a:t>
                </a:r>
                <a:r>
                  <a:rPr lang="en-US" sz="1600" dirty="0"/>
                  <a:t> </a:t>
                </a:r>
                <a:r>
                  <a:rPr lang="en-US" sz="1600" dirty="0" err="1"/>
                  <a:t>تغییر</a:t>
                </a:r>
                <a:r>
                  <a:rPr lang="en-US" sz="1600" dirty="0"/>
                  <a:t> </a:t>
                </a:r>
                <a:r>
                  <a:rPr lang="en-US" sz="1600" dirty="0" err="1"/>
                  <a:t>نمی‌کنند</a:t>
                </a:r>
                <a:r>
                  <a:rPr lang="en-US" sz="1600" dirty="0"/>
                  <a:t>، </a:t>
                </a:r>
                <a:r>
                  <a:rPr lang="en-US" sz="1600" dirty="0" err="1"/>
                  <a:t>ولی</a:t>
                </a:r>
                <a:r>
                  <a:rPr lang="en-US" sz="1600" dirty="0"/>
                  <a:t> </a:t>
                </a:r>
                <a:r>
                  <a:rPr lang="en-US" sz="1600" dirty="0" err="1"/>
                  <a:t>دامنه</a:t>
                </a:r>
                <a:r>
                  <a:rPr lang="en-US" sz="1600" dirty="0"/>
                  <a:t> و </a:t>
                </a:r>
                <a:r>
                  <a:rPr lang="en-US" sz="1600" dirty="0" err="1"/>
                  <a:t>توان</a:t>
                </a:r>
                <a:r>
                  <a:rPr lang="en-US" sz="1600" dirty="0"/>
                  <a:t> </a:t>
                </a:r>
                <a:r>
                  <a:rPr lang="en-US" sz="1600" dirty="0" err="1"/>
                  <a:t>به‌ترتیب</a:t>
                </a:r>
                <a:r>
                  <a:rPr lang="en-US" sz="1600" dirty="0"/>
                  <a:t> </a:t>
                </a:r>
                <a:r>
                  <a:rPr lang="en-US" sz="1600" dirty="0" err="1"/>
                  <a:t>با</a:t>
                </a:r>
                <a:r>
                  <a:rPr lang="en-US" sz="1600" dirty="0"/>
                  <a:t> </a:t>
                </a:r>
                <a14:m>
                  <m:oMath xmlns:m="http://schemas.openxmlformats.org/officeDocument/2006/math">
                    <m:r>
                      <a:rPr lang="en-US" sz="1600" i="1">
                        <a:latin typeface="Cambria Math" panose="02040503050406030204" pitchFamily="18" charset="0"/>
                      </a:rPr>
                      <m:t>𝑎</m:t>
                    </m:r>
                  </m:oMath>
                </a14:m>
                <a:r>
                  <a:rPr lang="en-US" sz="1600" dirty="0"/>
                  <a:t> و </a:t>
                </a:r>
                <a14:m>
                  <m:oMath xmlns:m="http://schemas.openxmlformats.org/officeDocument/2006/math">
                    <m:sSup>
                      <m:sSupPr>
                        <m:ctrlPr>
                          <a:rPr lang="en-US" sz="1600" i="1">
                            <a:latin typeface="Cambria Math" panose="02040503050406030204" pitchFamily="18" charset="0"/>
                          </a:rPr>
                        </m:ctrlPr>
                      </m:sSupPr>
                      <m:e>
                        <m:r>
                          <a:rPr lang="en-US" sz="1600" i="1">
                            <a:latin typeface="Cambria Math" panose="02040503050406030204" pitchFamily="18" charset="0"/>
                          </a:rPr>
                          <m:t>𝑎</m:t>
                        </m:r>
                      </m:e>
                      <m:sup>
                        <m:r>
                          <a:rPr lang="en-US" sz="1600">
                            <a:latin typeface="Cambria Math" panose="02040503050406030204" pitchFamily="18" charset="0"/>
                          </a:rPr>
                          <m:t>2</m:t>
                        </m:r>
                      </m:sup>
                    </m:sSup>
                  </m:oMath>
                </a14:m>
                <a:r>
                  <a:rPr lang="en-US" sz="1600" dirty="0"/>
                  <a:t> </a:t>
                </a:r>
                <a:r>
                  <a:rPr lang="en-US" sz="1600" dirty="0" err="1"/>
                  <a:t>مقیاس</a:t>
                </a:r>
                <a:r>
                  <a:rPr lang="en-US" sz="1600" dirty="0"/>
                  <a:t> </a:t>
                </a:r>
                <a:r>
                  <a:rPr lang="en-US" sz="1600" dirty="0" err="1"/>
                  <a:t>می‌شوند</a:t>
                </a:r>
                <a:r>
                  <a:rPr lang="en-US" sz="1600" dirty="0"/>
                  <a:t>. </a:t>
                </a:r>
                <a:r>
                  <a:rPr lang="en-US" sz="1600" dirty="0" err="1"/>
                  <a:t>این</a:t>
                </a:r>
                <a:r>
                  <a:rPr lang="en-US" sz="1600" dirty="0"/>
                  <a:t> </a:t>
                </a:r>
                <a:r>
                  <a:rPr lang="en-US" sz="1600" dirty="0" err="1"/>
                  <a:t>تبدیل</a:t>
                </a:r>
                <a:r>
                  <a:rPr lang="en-US" sz="1600" dirty="0"/>
                  <a:t> </a:t>
                </a:r>
                <a:r>
                  <a:rPr lang="en-US" sz="1600" dirty="0" err="1"/>
                  <a:t>تغییر</a:t>
                </a:r>
                <a:r>
                  <a:rPr lang="en-US" sz="1600" dirty="0"/>
                  <a:t> </a:t>
                </a:r>
                <a:r>
                  <a:rPr lang="en-US" sz="1600" dirty="0" err="1"/>
                  <a:t>فاصلهٔ</a:t>
                </a:r>
                <a:r>
                  <a:rPr lang="en-US" sz="1600" dirty="0"/>
                  <a:t> </a:t>
                </a:r>
                <a:r>
                  <a:rPr lang="en-US" sz="1600" dirty="0" err="1"/>
                  <a:t>میکروفون</a:t>
                </a:r>
                <a:r>
                  <a:rPr lang="en-US" sz="1600" dirty="0"/>
                  <a:t> </a:t>
                </a:r>
                <a:r>
                  <a:rPr lang="en-US" sz="1600" dirty="0" err="1"/>
                  <a:t>یا</a:t>
                </a:r>
                <a:r>
                  <a:rPr lang="en-US" sz="1600" dirty="0"/>
                  <a:t> </a:t>
                </a:r>
                <a:r>
                  <a:rPr lang="en-US" sz="1600" dirty="0" err="1"/>
                  <a:t>بهرهٔ</a:t>
                </a:r>
                <a:r>
                  <a:rPr lang="en-US" sz="1600" dirty="0"/>
                  <a:t> </a:t>
                </a:r>
                <a:r>
                  <a:rPr lang="en-US" sz="1600" dirty="0" err="1"/>
                  <a:t>ضبط</a:t>
                </a:r>
                <a:r>
                  <a:rPr lang="en-US" sz="1600" dirty="0"/>
                  <a:t> </a:t>
                </a:r>
                <a:r>
                  <a:rPr lang="en-US" sz="1600" dirty="0" err="1"/>
                  <a:t>را</a:t>
                </a:r>
                <a:r>
                  <a:rPr lang="en-US" sz="1600" dirty="0"/>
                  <a:t> </a:t>
                </a:r>
                <a:r>
                  <a:rPr lang="en-US" sz="1600" dirty="0" err="1"/>
                  <a:t>تقریب</a:t>
                </a:r>
                <a:r>
                  <a:rPr lang="en-US" sz="1600" dirty="0"/>
                  <a:t> </a:t>
                </a:r>
                <a:r>
                  <a:rPr lang="en-US" sz="1600" dirty="0" err="1"/>
                  <a:t>می‌زند</a:t>
                </a:r>
                <a:r>
                  <a:rPr lang="en-US" sz="1600" dirty="0"/>
                  <a:t>.</a:t>
                </a:r>
              </a:p>
              <a:p>
                <a:pPr algn="r" rtl="1"/>
                <a:endParaRPr lang="en-US" sz="1600" dirty="0"/>
              </a:p>
              <a:p>
                <a:pPr algn="r" rtl="1"/>
                <a:endParaRPr lang="en-US" sz="1600" dirty="0">
                  <a:cs typeface="B Nazanin" panose="00000400000000000000" pitchFamily="2" charset="-78"/>
                </a:endParaRPr>
              </a:p>
            </p:txBody>
          </p:sp>
        </mc:Choice>
        <mc:Fallback>
          <p:sp>
            <p:nvSpPr>
              <p:cNvPr id="2" name="TextBox 1">
                <a:extLst>
                  <a:ext uri="{FF2B5EF4-FFF2-40B4-BE49-F238E27FC236}">
                    <a16:creationId xmlns:a16="http://schemas.microsoft.com/office/drawing/2014/main" id="{0A54C84B-D056-C845-F34B-89DF25D82F06}"/>
                  </a:ext>
                </a:extLst>
              </p:cNvPr>
              <p:cNvSpPr txBox="1">
                <a:spLocks noRot="1" noChangeAspect="1" noMove="1" noResize="1" noEditPoints="1" noAdjustHandles="1" noChangeArrowheads="1" noChangeShapeType="1" noTextEdit="1"/>
              </p:cNvSpPr>
              <p:nvPr/>
            </p:nvSpPr>
            <p:spPr>
              <a:xfrm>
                <a:off x="379891" y="140785"/>
                <a:ext cx="9971207" cy="7079374"/>
              </a:xfrm>
              <a:prstGeom prst="rect">
                <a:avLst/>
              </a:prstGeom>
              <a:blipFill>
                <a:blip r:embed="rId3"/>
                <a:stretch>
                  <a:fillRect t="-345" r="-550"/>
                </a:stretch>
              </a:blipFill>
            </p:spPr>
            <p:txBody>
              <a:bodyPr/>
              <a:lstStyle/>
              <a:p>
                <a:r>
                  <a:rPr lang="en-US">
                    <a:noFill/>
                  </a:rPr>
                  <a:t> </a:t>
                </a:r>
              </a:p>
            </p:txBody>
          </p:sp>
        </mc:Fallback>
      </mc:AlternateContent>
    </p:spTree>
    <p:extLst>
      <p:ext uri="{BB962C8B-B14F-4D97-AF65-F5344CB8AC3E}">
        <p14:creationId xmlns:p14="http://schemas.microsoft.com/office/powerpoint/2010/main" val="3619344174"/>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D7401-F42D-4744-B536-1FE11E7BBE3A}"/>
              </a:ext>
            </a:extLst>
          </p:cNvPr>
          <p:cNvSpPr>
            <a:spLocks noGrp="1"/>
          </p:cNvSpPr>
          <p:nvPr>
            <p:ph type="title"/>
          </p:nvPr>
        </p:nvSpPr>
        <p:spPr/>
        <p:txBody>
          <a:bodyPr/>
          <a:lstStyle/>
          <a:p>
            <a:pPr algn="r"/>
            <a:r>
              <a:rPr lang="fa-IR" dirty="0"/>
              <a:t> | مرحله 1</a:t>
            </a:r>
            <a:r>
              <a:rPr lang="en-US" dirty="0"/>
              <a:t>MFCC</a:t>
            </a:r>
          </a:p>
        </p:txBody>
      </p:sp>
      <p:sp>
        <p:nvSpPr>
          <p:cNvPr id="3" name="Content Placeholder 2">
            <a:extLst>
              <a:ext uri="{FF2B5EF4-FFF2-40B4-BE49-F238E27FC236}">
                <a16:creationId xmlns:a16="http://schemas.microsoft.com/office/drawing/2014/main" id="{7484D474-8C55-EAE3-B046-0F4336DA8131}"/>
              </a:ext>
            </a:extLst>
          </p:cNvPr>
          <p:cNvSpPr>
            <a:spLocks noGrp="1"/>
          </p:cNvSpPr>
          <p:nvPr>
            <p:ph idx="1"/>
          </p:nvPr>
        </p:nvSpPr>
        <p:spPr/>
        <p:txBody>
          <a:bodyPr/>
          <a:lstStyle/>
          <a:p>
            <a:pPr algn="r" rtl="1"/>
            <a:r>
              <a:rPr lang="fa-IR" dirty="0"/>
              <a:t>ما 160000 تا </a:t>
            </a:r>
            <a:r>
              <a:rPr lang="en-US" dirty="0"/>
              <a:t>sample </a:t>
            </a:r>
            <a:r>
              <a:rPr lang="fa-IR" dirty="0"/>
              <a:t> برای هر </a:t>
            </a:r>
            <a:r>
              <a:rPr lang="en-US" dirty="0"/>
              <a:t>audio </a:t>
            </a:r>
            <a:r>
              <a:rPr lang="fa-IR" dirty="0"/>
              <a:t> داریم حال </a:t>
            </a:r>
            <a:r>
              <a:rPr lang="en-US" dirty="0" err="1"/>
              <a:t>hop_length</a:t>
            </a:r>
            <a:r>
              <a:rPr lang="en-US" dirty="0"/>
              <a:t> = 512 </a:t>
            </a:r>
            <a:r>
              <a:rPr lang="fa-IR" dirty="0"/>
              <a:t> پس داریم:</a:t>
            </a:r>
            <a:br>
              <a:rPr lang="fa-IR" dirty="0"/>
            </a:br>
            <a:r>
              <a:rPr lang="en-US" dirty="0"/>
              <a:t>160000/512=313 </a:t>
            </a:r>
            <a:r>
              <a:rPr lang="fa-IR" dirty="0"/>
              <a:t> پس در نهایت ما 313 تا </a:t>
            </a:r>
            <a:r>
              <a:rPr lang="en-US" dirty="0"/>
              <a:t>frame </a:t>
            </a:r>
            <a:r>
              <a:rPr lang="fa-IR" dirty="0"/>
              <a:t> داریم</a:t>
            </a:r>
          </a:p>
          <a:p>
            <a:pPr algn="r" rtl="1"/>
            <a:endParaRPr lang="fa-IR" dirty="0"/>
          </a:p>
          <a:p>
            <a:pPr algn="r" rtl="1"/>
            <a:r>
              <a:rPr lang="fa-IR" dirty="0"/>
              <a:t>این مار را میکنیم تا به </a:t>
            </a:r>
            <a:r>
              <a:rPr lang="en-US" dirty="0"/>
              <a:t>signal </a:t>
            </a:r>
            <a:r>
              <a:rPr lang="fa-IR" dirty="0"/>
              <a:t> صدا به صورت چندین سیگنال کوچک کنار هم نگاه کنیم که هر کدام ویژگی هایی دارند</a:t>
            </a:r>
          </a:p>
        </p:txBody>
      </p:sp>
    </p:spTree>
    <p:extLst>
      <p:ext uri="{BB962C8B-B14F-4D97-AF65-F5344CB8AC3E}">
        <p14:creationId xmlns:p14="http://schemas.microsoft.com/office/powerpoint/2010/main" val="4211580111"/>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855C6-2B16-9B22-04AD-DFE4D3B495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6B189-E8AE-E5A2-9781-D6ABA8026463}"/>
              </a:ext>
            </a:extLst>
          </p:cNvPr>
          <p:cNvSpPr>
            <a:spLocks noGrp="1"/>
          </p:cNvSpPr>
          <p:nvPr>
            <p:ph type="title"/>
          </p:nvPr>
        </p:nvSpPr>
        <p:spPr/>
        <p:txBody>
          <a:bodyPr/>
          <a:lstStyle/>
          <a:p>
            <a:pPr algn="r"/>
            <a:r>
              <a:rPr lang="fa-IR" dirty="0"/>
              <a:t> | مرحله2 </a:t>
            </a:r>
            <a:r>
              <a:rPr lang="en-US" dirty="0"/>
              <a:t>MFCC</a:t>
            </a:r>
          </a:p>
        </p:txBody>
      </p:sp>
      <p:sp>
        <p:nvSpPr>
          <p:cNvPr id="3" name="Content Placeholder 2">
            <a:extLst>
              <a:ext uri="{FF2B5EF4-FFF2-40B4-BE49-F238E27FC236}">
                <a16:creationId xmlns:a16="http://schemas.microsoft.com/office/drawing/2014/main" id="{1E88EE6A-0C17-2E2F-DEC3-A65EE7CC43BA}"/>
              </a:ext>
            </a:extLst>
          </p:cNvPr>
          <p:cNvSpPr>
            <a:spLocks noGrp="1"/>
          </p:cNvSpPr>
          <p:nvPr>
            <p:ph idx="1"/>
          </p:nvPr>
        </p:nvSpPr>
        <p:spPr/>
        <p:txBody>
          <a:bodyPr/>
          <a:lstStyle/>
          <a:p>
            <a:pPr algn="r" rtl="1"/>
            <a:r>
              <a:rPr lang="fa-IR" dirty="0"/>
              <a:t>حال با استفاده از تبدیل فوریه </a:t>
            </a:r>
            <a:r>
              <a:rPr lang="en-US" dirty="0"/>
              <a:t>FFT </a:t>
            </a:r>
            <a:r>
              <a:rPr lang="fa-IR" dirty="0"/>
              <a:t> هر </a:t>
            </a:r>
            <a:r>
              <a:rPr lang="en-US" dirty="0"/>
              <a:t>frame</a:t>
            </a:r>
            <a:r>
              <a:rPr lang="fa-IR" dirty="0"/>
              <a:t> را به حوزه فرکانس تبدیل میکنیم</a:t>
            </a:r>
          </a:p>
          <a:p>
            <a:pPr algn="r" rtl="1"/>
            <a:endParaRPr lang="fa-IR" dirty="0"/>
          </a:p>
          <a:p>
            <a:pPr algn="r" rtl="1"/>
            <a:endParaRPr lang="fa-IR" dirty="0"/>
          </a:p>
          <a:p>
            <a:pPr algn="r" rtl="1"/>
            <a:endParaRPr lang="fa-IR" dirty="0"/>
          </a:p>
          <a:p>
            <a:pPr algn="r" rtl="1"/>
            <a:r>
              <a:rPr lang="fa-IR" dirty="0"/>
              <a:t>سپس مقدار توان آن را حساب میکنیم اینطور میدانیم که در هر فرکانش چه توان هایی داریم </a:t>
            </a:r>
          </a:p>
          <a:p>
            <a:pPr algn="r" rtl="1"/>
            <a:endParaRPr lang="fa-IR" dirty="0"/>
          </a:p>
          <a:p>
            <a:pPr algn="r" rtl="1"/>
            <a:endParaRPr lang="fa-IR" dirty="0"/>
          </a:p>
          <a:p>
            <a:pPr algn="r" rtl="1"/>
            <a:endParaRPr lang="fa-IR" dirty="0"/>
          </a:p>
          <a:p>
            <a:pPr algn="r" rtl="1"/>
            <a:r>
              <a:rPr lang="fa-IR" dirty="0"/>
              <a:t>حال فرکانس های هر خانه را حساب میکنیم </a:t>
            </a:r>
          </a:p>
        </p:txBody>
      </p:sp>
      <p:pic>
        <p:nvPicPr>
          <p:cNvPr id="5" name="Picture 4">
            <a:extLst>
              <a:ext uri="{FF2B5EF4-FFF2-40B4-BE49-F238E27FC236}">
                <a16:creationId xmlns:a16="http://schemas.microsoft.com/office/drawing/2014/main" id="{B7DC19D0-631E-C4D8-0DCA-375E189C14A5}"/>
              </a:ext>
            </a:extLst>
          </p:cNvPr>
          <p:cNvPicPr>
            <a:picLocks noChangeAspect="1"/>
          </p:cNvPicPr>
          <p:nvPr/>
        </p:nvPicPr>
        <p:blipFill>
          <a:blip r:embed="rId2"/>
          <a:stretch>
            <a:fillRect/>
          </a:stretch>
        </p:blipFill>
        <p:spPr>
          <a:xfrm>
            <a:off x="551250" y="2571368"/>
            <a:ext cx="3181794" cy="1286054"/>
          </a:xfrm>
          <a:prstGeom prst="rect">
            <a:avLst/>
          </a:prstGeom>
        </p:spPr>
      </p:pic>
      <p:pic>
        <p:nvPicPr>
          <p:cNvPr id="7" name="Picture 6">
            <a:extLst>
              <a:ext uri="{FF2B5EF4-FFF2-40B4-BE49-F238E27FC236}">
                <a16:creationId xmlns:a16="http://schemas.microsoft.com/office/drawing/2014/main" id="{AE16A5CA-93AF-267F-63F6-46740C113DB4}"/>
              </a:ext>
            </a:extLst>
          </p:cNvPr>
          <p:cNvPicPr>
            <a:picLocks noChangeAspect="1"/>
          </p:cNvPicPr>
          <p:nvPr/>
        </p:nvPicPr>
        <p:blipFill>
          <a:blip r:embed="rId3"/>
          <a:stretch>
            <a:fillRect/>
          </a:stretch>
        </p:blipFill>
        <p:spPr>
          <a:xfrm>
            <a:off x="551250" y="4375872"/>
            <a:ext cx="2124371" cy="1114581"/>
          </a:xfrm>
          <a:prstGeom prst="rect">
            <a:avLst/>
          </a:prstGeom>
        </p:spPr>
      </p:pic>
      <p:pic>
        <p:nvPicPr>
          <p:cNvPr id="9" name="Picture 8">
            <a:extLst>
              <a:ext uri="{FF2B5EF4-FFF2-40B4-BE49-F238E27FC236}">
                <a16:creationId xmlns:a16="http://schemas.microsoft.com/office/drawing/2014/main" id="{C53C1711-CE8E-8BEE-0F57-50BAE57638AF}"/>
              </a:ext>
            </a:extLst>
          </p:cNvPr>
          <p:cNvPicPr>
            <a:picLocks noChangeAspect="1"/>
          </p:cNvPicPr>
          <p:nvPr/>
        </p:nvPicPr>
        <p:blipFill>
          <a:blip r:embed="rId4"/>
          <a:stretch>
            <a:fillRect/>
          </a:stretch>
        </p:blipFill>
        <p:spPr>
          <a:xfrm>
            <a:off x="551250" y="5690374"/>
            <a:ext cx="1886213" cy="1076475"/>
          </a:xfrm>
          <a:prstGeom prst="rect">
            <a:avLst/>
          </a:prstGeom>
        </p:spPr>
      </p:pic>
    </p:spTree>
    <p:extLst>
      <p:ext uri="{BB962C8B-B14F-4D97-AF65-F5344CB8AC3E}">
        <p14:creationId xmlns:p14="http://schemas.microsoft.com/office/powerpoint/2010/main" val="1979948566"/>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0DBB0-8062-5E46-1C7C-C7A4B1B8C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F7C71-215B-40FF-B174-1235222BBE2F}"/>
              </a:ext>
            </a:extLst>
          </p:cNvPr>
          <p:cNvSpPr>
            <a:spLocks noGrp="1"/>
          </p:cNvSpPr>
          <p:nvPr>
            <p:ph type="title"/>
          </p:nvPr>
        </p:nvSpPr>
        <p:spPr/>
        <p:txBody>
          <a:bodyPr/>
          <a:lstStyle/>
          <a:p>
            <a:pPr algn="r"/>
            <a:r>
              <a:rPr lang="fa-IR" dirty="0"/>
              <a:t> | مرحله 3</a:t>
            </a:r>
            <a:r>
              <a:rPr lang="en-US" dirty="0"/>
              <a:t>MFCC</a:t>
            </a:r>
          </a:p>
        </p:txBody>
      </p:sp>
      <p:sp>
        <p:nvSpPr>
          <p:cNvPr id="3" name="Content Placeholder 2">
            <a:extLst>
              <a:ext uri="{FF2B5EF4-FFF2-40B4-BE49-F238E27FC236}">
                <a16:creationId xmlns:a16="http://schemas.microsoft.com/office/drawing/2014/main" id="{C7E2B7A3-944B-EDDF-A73E-6152F8251B39}"/>
              </a:ext>
            </a:extLst>
          </p:cNvPr>
          <p:cNvSpPr>
            <a:spLocks noGrp="1"/>
          </p:cNvSpPr>
          <p:nvPr>
            <p:ph idx="1"/>
          </p:nvPr>
        </p:nvSpPr>
        <p:spPr/>
        <p:txBody>
          <a:bodyPr/>
          <a:lstStyle/>
          <a:p>
            <a:pPr algn="r" rtl="1"/>
            <a:r>
              <a:rPr lang="fa-IR" dirty="0"/>
              <a:t>حال </a:t>
            </a:r>
            <a:r>
              <a:rPr lang="en-US" dirty="0"/>
              <a:t>Mel Filter</a:t>
            </a:r>
            <a:r>
              <a:rPr lang="fa-IR" dirty="0"/>
              <a:t> را محاسبه میکنیم این تابع چندین فیلتر دارند که با رابطه زیر روی مقادیر به دست آمده حاصل از انرژی در هر فرکانش اعمال میشود</a:t>
            </a:r>
          </a:p>
          <a:p>
            <a:pPr algn="r" rtl="1"/>
            <a:endParaRPr lang="fa-IR" dirty="0"/>
          </a:p>
          <a:p>
            <a:pPr algn="r" rtl="1"/>
            <a:endParaRPr lang="fa-IR" dirty="0"/>
          </a:p>
          <a:p>
            <a:pPr algn="r" rtl="1"/>
            <a:endParaRPr lang="fa-IR" dirty="0"/>
          </a:p>
          <a:p>
            <a:pPr algn="r" rtl="1"/>
            <a:r>
              <a:rPr lang="fa-IR" dirty="0"/>
              <a:t>این فیلتر ها مثل این هست که گوش های مختلف میسازیم که صدا را بشنود هر گوش به دسته از فرکانس ها حساس هستند پس بعضی ها را با وزنی میشنوند و یعضی ها را نمیشنود</a:t>
            </a:r>
          </a:p>
          <a:p>
            <a:pPr algn="r" rtl="1"/>
            <a:endParaRPr lang="fa-IR" dirty="0"/>
          </a:p>
          <a:p>
            <a:pPr algn="r" rtl="1"/>
            <a:r>
              <a:rPr lang="fa-IR" dirty="0"/>
              <a:t>حال از حاصل لگاریتم میگیریم چون صدا برای انسان مانند ارزش لگاریتم آن شنیده میشود</a:t>
            </a:r>
          </a:p>
        </p:txBody>
      </p:sp>
      <p:pic>
        <p:nvPicPr>
          <p:cNvPr id="5" name="Picture 4">
            <a:extLst>
              <a:ext uri="{FF2B5EF4-FFF2-40B4-BE49-F238E27FC236}">
                <a16:creationId xmlns:a16="http://schemas.microsoft.com/office/drawing/2014/main" id="{CC423AD6-8CF5-BDE7-E80F-725E13856E64}"/>
              </a:ext>
            </a:extLst>
          </p:cNvPr>
          <p:cNvPicPr>
            <a:picLocks noChangeAspect="1"/>
          </p:cNvPicPr>
          <p:nvPr/>
        </p:nvPicPr>
        <p:blipFill>
          <a:blip r:embed="rId2"/>
          <a:stretch>
            <a:fillRect/>
          </a:stretch>
        </p:blipFill>
        <p:spPr>
          <a:xfrm>
            <a:off x="1218313" y="2581157"/>
            <a:ext cx="2962688" cy="847843"/>
          </a:xfrm>
          <a:prstGeom prst="rect">
            <a:avLst/>
          </a:prstGeom>
        </p:spPr>
      </p:pic>
      <p:pic>
        <p:nvPicPr>
          <p:cNvPr id="7" name="Picture 6">
            <a:extLst>
              <a:ext uri="{FF2B5EF4-FFF2-40B4-BE49-F238E27FC236}">
                <a16:creationId xmlns:a16="http://schemas.microsoft.com/office/drawing/2014/main" id="{C304243C-2015-384C-7E60-08B8B9AF0F51}"/>
              </a:ext>
            </a:extLst>
          </p:cNvPr>
          <p:cNvPicPr>
            <a:picLocks noChangeAspect="1"/>
          </p:cNvPicPr>
          <p:nvPr/>
        </p:nvPicPr>
        <p:blipFill>
          <a:blip r:embed="rId3"/>
          <a:stretch>
            <a:fillRect/>
          </a:stretch>
        </p:blipFill>
        <p:spPr>
          <a:xfrm>
            <a:off x="960904" y="5633266"/>
            <a:ext cx="2133898" cy="647790"/>
          </a:xfrm>
          <a:prstGeom prst="rect">
            <a:avLst/>
          </a:prstGeom>
        </p:spPr>
      </p:pic>
    </p:spTree>
    <p:extLst>
      <p:ext uri="{BB962C8B-B14F-4D97-AF65-F5344CB8AC3E}">
        <p14:creationId xmlns:p14="http://schemas.microsoft.com/office/powerpoint/2010/main" val="29207342"/>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C54C6-B02A-E637-02DF-ADBACA9EFB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2A4CBD-59B2-5F9A-B0C8-22FAEAA24F84}"/>
              </a:ext>
            </a:extLst>
          </p:cNvPr>
          <p:cNvSpPr>
            <a:spLocks noGrp="1"/>
          </p:cNvSpPr>
          <p:nvPr>
            <p:ph type="title"/>
          </p:nvPr>
        </p:nvSpPr>
        <p:spPr/>
        <p:txBody>
          <a:bodyPr/>
          <a:lstStyle/>
          <a:p>
            <a:pPr algn="r"/>
            <a:r>
              <a:rPr lang="fa-IR" dirty="0"/>
              <a:t> | مرحله آخر</a:t>
            </a:r>
            <a:r>
              <a:rPr lang="en-US" dirty="0"/>
              <a:t>MFCC</a:t>
            </a:r>
          </a:p>
        </p:txBody>
      </p:sp>
      <p:sp>
        <p:nvSpPr>
          <p:cNvPr id="3" name="Content Placeholder 2">
            <a:extLst>
              <a:ext uri="{FF2B5EF4-FFF2-40B4-BE49-F238E27FC236}">
                <a16:creationId xmlns:a16="http://schemas.microsoft.com/office/drawing/2014/main" id="{4E8ACC81-EDA8-6E72-1E69-AFF6F5EACA24}"/>
              </a:ext>
            </a:extLst>
          </p:cNvPr>
          <p:cNvSpPr>
            <a:spLocks noGrp="1"/>
          </p:cNvSpPr>
          <p:nvPr>
            <p:ph idx="1"/>
          </p:nvPr>
        </p:nvSpPr>
        <p:spPr/>
        <p:txBody>
          <a:bodyPr/>
          <a:lstStyle/>
          <a:p>
            <a:pPr algn="r" rtl="1"/>
            <a:r>
              <a:rPr lang="fa-IR" dirty="0"/>
              <a:t>حال تبدیل </a:t>
            </a:r>
            <a:r>
              <a:rPr lang="en-US" dirty="0"/>
              <a:t>DCT</a:t>
            </a:r>
            <a:r>
              <a:rPr lang="fa-IR" dirty="0"/>
              <a:t> را اعمال میکنیم </a:t>
            </a:r>
          </a:p>
          <a:p>
            <a:pPr algn="r" rtl="1"/>
            <a:endParaRPr lang="fa-IR" dirty="0"/>
          </a:p>
          <a:p>
            <a:pPr algn="r" rtl="1"/>
            <a:endParaRPr lang="fa-IR" dirty="0"/>
          </a:p>
          <a:p>
            <a:pPr algn="r" rtl="1"/>
            <a:endParaRPr lang="fa-IR" dirty="0"/>
          </a:p>
          <a:p>
            <a:pPr algn="r" rtl="1"/>
            <a:endParaRPr lang="fa-IR" dirty="0"/>
          </a:p>
          <a:p>
            <a:pPr algn="r" rtl="1"/>
            <a:r>
              <a:rPr lang="en-US" dirty="0"/>
              <a:t>DCT </a:t>
            </a:r>
            <a:r>
              <a:rPr lang="fa-IR" dirty="0"/>
              <a:t>اطلاعات موجود در انرژی فیلترهای </a:t>
            </a:r>
            <a:r>
              <a:rPr lang="en-US" dirty="0"/>
              <a:t>Mel </a:t>
            </a:r>
            <a:r>
              <a:rPr lang="fa-IR" dirty="0"/>
              <a:t>را به مجموعه‌ای از ضرایب تبدیل می‌کند که اطلاعات اصلی را در چند ضریب اول متمرکز می‌کنند </a:t>
            </a:r>
          </a:p>
          <a:p>
            <a:pPr algn="r" rtl="1"/>
            <a:endParaRPr lang="fa-IR" dirty="0"/>
          </a:p>
          <a:p>
            <a:pPr algn="r" rtl="1"/>
            <a:r>
              <a:rPr lang="fa-IR" dirty="0"/>
              <a:t>حال در نهایت 10 تا عدد اول تولید شده را برمیداریم که ضریب های با ارزش هستند و از این ضرایب برای ترین مدل استفاده میکنیم</a:t>
            </a:r>
          </a:p>
        </p:txBody>
      </p:sp>
      <p:pic>
        <p:nvPicPr>
          <p:cNvPr id="6" name="Picture 5">
            <a:extLst>
              <a:ext uri="{FF2B5EF4-FFF2-40B4-BE49-F238E27FC236}">
                <a16:creationId xmlns:a16="http://schemas.microsoft.com/office/drawing/2014/main" id="{155ACC1E-734B-3ADB-E2BC-520D95422FB9}"/>
              </a:ext>
            </a:extLst>
          </p:cNvPr>
          <p:cNvPicPr>
            <a:picLocks noChangeAspect="1"/>
          </p:cNvPicPr>
          <p:nvPr/>
        </p:nvPicPr>
        <p:blipFill>
          <a:blip r:embed="rId2"/>
          <a:stretch>
            <a:fillRect/>
          </a:stretch>
        </p:blipFill>
        <p:spPr>
          <a:xfrm>
            <a:off x="1103312" y="2052918"/>
            <a:ext cx="3820058" cy="1448002"/>
          </a:xfrm>
          <a:prstGeom prst="rect">
            <a:avLst/>
          </a:prstGeom>
        </p:spPr>
      </p:pic>
    </p:spTree>
    <p:extLst>
      <p:ext uri="{BB962C8B-B14F-4D97-AF65-F5344CB8AC3E}">
        <p14:creationId xmlns:p14="http://schemas.microsoft.com/office/powerpoint/2010/main" val="3636435599"/>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C08F0-3D9C-05D1-E32F-81094369E0C7}"/>
              </a:ext>
            </a:extLst>
          </p:cNvPr>
          <p:cNvSpPr>
            <a:spLocks noGrp="1"/>
          </p:cNvSpPr>
          <p:nvPr>
            <p:ph type="title"/>
          </p:nvPr>
        </p:nvSpPr>
        <p:spPr/>
        <p:txBody>
          <a:bodyPr/>
          <a:lstStyle/>
          <a:p>
            <a:pPr algn="r"/>
            <a:r>
              <a:rPr lang="en-US" dirty="0"/>
              <a:t>Train model</a:t>
            </a:r>
          </a:p>
        </p:txBody>
      </p:sp>
      <p:sp>
        <p:nvSpPr>
          <p:cNvPr id="3" name="Content Placeholder 2">
            <a:extLst>
              <a:ext uri="{FF2B5EF4-FFF2-40B4-BE49-F238E27FC236}">
                <a16:creationId xmlns:a16="http://schemas.microsoft.com/office/drawing/2014/main" id="{C89592AA-98FB-1CF4-5826-45D55F249BF1}"/>
              </a:ext>
            </a:extLst>
          </p:cNvPr>
          <p:cNvSpPr>
            <a:spLocks noGrp="1"/>
          </p:cNvSpPr>
          <p:nvPr>
            <p:ph idx="1"/>
          </p:nvPr>
        </p:nvSpPr>
        <p:spPr/>
        <p:txBody>
          <a:bodyPr/>
          <a:lstStyle/>
          <a:p>
            <a:pPr algn="r" rtl="1"/>
            <a:r>
              <a:rPr lang="fa-IR" dirty="0"/>
              <a:t>دراین مرحله با استفاده از 4 مدل برای هر کدام با 4 پارامتر مختلف در نهایت 16 مدل ترین میکنیم</a:t>
            </a:r>
            <a:br>
              <a:rPr lang="fa-IR" dirty="0"/>
            </a:br>
            <a:endParaRPr lang="fa-IR" dirty="0"/>
          </a:p>
          <a:p>
            <a:r>
              <a:rPr lang="en-US" dirty="0"/>
              <a:t>Logistic Regression </a:t>
            </a:r>
          </a:p>
          <a:p>
            <a:r>
              <a:rPr lang="en-US" dirty="0"/>
              <a:t>Support Vector Classifier (SVC) </a:t>
            </a:r>
          </a:p>
          <a:p>
            <a:r>
              <a:rPr lang="en-US" dirty="0"/>
              <a:t>Random Forest </a:t>
            </a:r>
          </a:p>
          <a:p>
            <a:r>
              <a:rPr lang="en-US" dirty="0"/>
              <a:t>Gradient Boosting </a:t>
            </a:r>
          </a:p>
          <a:p>
            <a:pPr algn="r" rtl="1"/>
            <a:r>
              <a:rPr lang="fa-IR" dirty="0"/>
              <a:t>سپس اطلاعات در مورد هر مدل را به کاربر نشان میدهیم </a:t>
            </a:r>
          </a:p>
          <a:p>
            <a:pPr algn="r" rtl="1"/>
            <a:r>
              <a:rPr lang="fa-IR" dirty="0"/>
              <a:t>کاربر میتواند میان آنها هر کدام را که بخواهد انتخاب کند</a:t>
            </a:r>
            <a:endParaRPr lang="en-US" dirty="0"/>
          </a:p>
        </p:txBody>
      </p:sp>
    </p:spTree>
    <p:extLst>
      <p:ext uri="{BB962C8B-B14F-4D97-AF65-F5344CB8AC3E}">
        <p14:creationId xmlns:p14="http://schemas.microsoft.com/office/powerpoint/2010/main" val="893581481"/>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97A1B-E08E-9F75-2FE9-D431EAA5E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5B700-FB6A-ADDC-A5E6-00AA9575BA1C}"/>
              </a:ext>
            </a:extLst>
          </p:cNvPr>
          <p:cNvSpPr>
            <a:spLocks noGrp="1"/>
          </p:cNvSpPr>
          <p:nvPr>
            <p:ph type="title"/>
          </p:nvPr>
        </p:nvSpPr>
        <p:spPr/>
        <p:txBody>
          <a:bodyPr/>
          <a:lstStyle/>
          <a:p>
            <a:pPr algn="r"/>
            <a:r>
              <a:rPr lang="en-US" dirty="0"/>
              <a:t>UI app</a:t>
            </a:r>
          </a:p>
        </p:txBody>
      </p:sp>
      <p:sp>
        <p:nvSpPr>
          <p:cNvPr id="3" name="Content Placeholder 2">
            <a:extLst>
              <a:ext uri="{FF2B5EF4-FFF2-40B4-BE49-F238E27FC236}">
                <a16:creationId xmlns:a16="http://schemas.microsoft.com/office/drawing/2014/main" id="{D223B582-5530-AF2E-3FEB-F3038E30262B}"/>
              </a:ext>
            </a:extLst>
          </p:cNvPr>
          <p:cNvSpPr>
            <a:spLocks noGrp="1"/>
          </p:cNvSpPr>
          <p:nvPr>
            <p:ph idx="1"/>
          </p:nvPr>
        </p:nvSpPr>
        <p:spPr/>
        <p:txBody>
          <a:bodyPr/>
          <a:lstStyle/>
          <a:p>
            <a:pPr algn="r" rtl="1"/>
            <a:r>
              <a:rPr lang="fa-IR" dirty="0"/>
              <a:t>در این مرحله یک اپ ساخته ایم که در ابتدا 4 مدل انتخاب شده کاربر را لود میکند.</a:t>
            </a:r>
          </a:p>
          <a:p>
            <a:pPr algn="r" rtl="1"/>
            <a:r>
              <a:rPr lang="fa-IR" dirty="0"/>
              <a:t>سپس از کاربر فایل </a:t>
            </a:r>
            <a:r>
              <a:rPr lang="en-US" dirty="0"/>
              <a:t>.wav </a:t>
            </a:r>
            <a:r>
              <a:rPr lang="fa-IR" dirty="0"/>
              <a:t> را دریافت میکند</a:t>
            </a:r>
          </a:p>
          <a:p>
            <a:pPr algn="r" rtl="1"/>
            <a:r>
              <a:rPr lang="fa-IR" dirty="0"/>
              <a:t>مراحل یکسان برای تولید فیچر ها را میرود و با استفاده از 4 مدل پیشبینی میکند</a:t>
            </a:r>
          </a:p>
          <a:p>
            <a:pPr algn="r" rtl="1"/>
            <a:r>
              <a:rPr lang="fa-IR" dirty="0"/>
              <a:t>سپس پیشبینی ها مدل را نشان میدهد</a:t>
            </a:r>
            <a:endParaRPr lang="en-US" dirty="0"/>
          </a:p>
        </p:txBody>
      </p:sp>
    </p:spTree>
    <p:extLst>
      <p:ext uri="{BB962C8B-B14F-4D97-AF65-F5344CB8AC3E}">
        <p14:creationId xmlns:p14="http://schemas.microsoft.com/office/powerpoint/2010/main" val="3021151041"/>
      </p:ext>
    </p:extLst>
  </p:cSld>
  <p:clrMapOvr>
    <a:masterClrMapping/>
  </p:clrMapOvr>
  <p:transition spd="slow">
    <p:cove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92</TotalTime>
  <Words>979</Words>
  <Application>Microsoft Office PowerPoint</Application>
  <PresentationFormat>Widescreen</PresentationFormat>
  <Paragraphs>111</Paragraphs>
  <Slides>10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-apple-system</vt:lpstr>
      <vt:lpstr>Aptos</vt:lpstr>
      <vt:lpstr>B Nazanin</vt:lpstr>
      <vt:lpstr>Cambria Math</vt:lpstr>
      <vt:lpstr>Century Gothic</vt:lpstr>
      <vt:lpstr>Consolas</vt:lpstr>
      <vt:lpstr>Wingdings 3</vt:lpstr>
      <vt:lpstr>Ion</vt:lpstr>
      <vt:lpstr>PowerPoint Presentation</vt:lpstr>
      <vt:lpstr>PowerPoint Presentation</vt:lpstr>
      <vt:lpstr>PowerPoint Presentation</vt:lpstr>
      <vt:lpstr>PowerPoint Presentation</vt:lpstr>
      <vt:lpstr> | مرحله 1MFCC</vt:lpstr>
      <vt:lpstr> | مرحله2 MFCC</vt:lpstr>
      <vt:lpstr> | مرحله 3MFCC</vt:lpstr>
      <vt:lpstr> | مرحله آخرMFCC</vt:lpstr>
      <vt:lpstr>Train model</vt:lpstr>
      <vt:lpstr>UI app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Mahdi Dehghani</dc:creator>
  <cp:lastModifiedBy>Abolfazl1</cp:lastModifiedBy>
  <cp:revision>16</cp:revision>
  <dcterms:created xsi:type="dcterms:W3CDTF">2026-07-07T17:23:21Z</dcterms:created>
  <dcterms:modified xsi:type="dcterms:W3CDTF">2026-07-09T04:55:28Z</dcterms:modified>
</cp:coreProperties>
</file>